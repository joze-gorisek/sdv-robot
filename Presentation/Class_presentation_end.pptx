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7" r:id="rId3"/>
    <p:sldId id="264" r:id="rId4"/>
    <p:sldId id="263" r:id="rId5"/>
    <p:sldId id="265" r:id="rId6"/>
    <p:sldId id="266"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78" y="1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278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Začnem s kratko predstavitvijo projekta: gre za mobilnega robota, pri katerem smo združili pogonske motorje, motorje za premik trupa, senzor nagiba in regulacijo.
Poudarim, da je bistvo projekta povezava med strojno opremo in programsko logiko na STM32F4 mikrokrmilniku.
Najpomembnejši sklopi so CyberGear motorji, DDSM115 pogonski motorji, MPU6050 oziroma meritev nagiba, Kalmanov filter in regulacija toka motorjev.</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CED3-ED1E-6B3B-F045-9D7C2A960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A32F9-6655-1A89-F995-899E4C7FF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BC1BD-AF69-8294-421E-1A63EF9C2C4F}"/>
              </a:ext>
            </a:extLst>
          </p:cNvPr>
          <p:cNvSpPr>
            <a:spLocks noGrp="1"/>
          </p:cNvSpPr>
          <p:nvPr>
            <p:ph type="body" idx="1"/>
          </p:nvPr>
        </p:nvSpPr>
        <p:spPr/>
        <p:txBody>
          <a:bodyPr/>
          <a:lstStyle/>
          <a:p>
            <a:r>
              <a:rPr lang="en-US" dirty="0"/>
              <a:t>Na tem slajdu razložim regulacijo. Stanje robota vsebuje položaj, hitrost, nagib in kotno hitrost nagiba.
Za vsako vrednost primerjamo želeno vrednost in trenutno vrednost. Ker želimo stabilizacijo, so želene vrednosti večinoma nič.
Vsaka napaka ima svoj faktor: k1 za položaj, k2 za hitrost, k3 za nagib in k4 za kotno hitrost.
Iz tega dobimo u_L in u_R, nato se pretvori v tokovni ukaz za DDSM115 motorja. To je dejanski odziv koles.</a:t>
            </a:r>
          </a:p>
        </p:txBody>
      </p:sp>
      <p:sp>
        <p:nvSpPr>
          <p:cNvPr id="4" name="Slide Number Placeholder 3">
            <a:extLst>
              <a:ext uri="{FF2B5EF4-FFF2-40B4-BE49-F238E27FC236}">
                <a16:creationId xmlns:a16="http://schemas.microsoft.com/office/drawing/2014/main" id="{1A0D7D15-2901-BC38-4321-32BF108393D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336794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B00FE-8D2C-F951-D37D-5B97169D1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37CD4-61FE-6970-A185-E66FE0F9C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65038-6FE1-0BFF-4651-14F59E15DAC4}"/>
              </a:ext>
            </a:extLst>
          </p:cNvPr>
          <p:cNvSpPr>
            <a:spLocks noGrp="1"/>
          </p:cNvSpPr>
          <p:nvPr>
            <p:ph type="body" idx="1"/>
          </p:nvPr>
        </p:nvSpPr>
        <p:spPr/>
        <p:txBody>
          <a:bodyPr/>
          <a:lstStyle/>
          <a:p>
            <a:r>
              <a:rPr lang="en-US" dirty="0"/>
              <a:t>Na tem slajdu razložim regulacijo. Stanje robota vsebuje položaj, hitrost, nagib in kotno hitrost nagiba.
Za vsako vrednost primerjamo želeno vrednost in trenutno vrednost. Ker želimo stabilizacijo, so želene vrednosti večinoma nič.
Vsaka napaka ima svoj faktor: k1 za položaj, k2 za hitrost, k3 za nagib in k4 za kotno hitrost.
Iz tega dobimo u_L in u_R, nato se pretvori v tokovni ukaz za DDSM115 motorja. To je dejanski odziv koles.</a:t>
            </a:r>
          </a:p>
        </p:txBody>
      </p:sp>
      <p:sp>
        <p:nvSpPr>
          <p:cNvPr id="4" name="Slide Number Placeholder 3">
            <a:extLst>
              <a:ext uri="{FF2B5EF4-FFF2-40B4-BE49-F238E27FC236}">
                <a16:creationId xmlns:a16="http://schemas.microsoft.com/office/drawing/2014/main" id="{75C150B1-C668-C777-3F20-2D18DCAE75E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04201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tem slajdu razložim regulacijo. Stanje robota vsebuje položaj, hitrost, nagib in kotno hitrost nagiba.
Za vsako vrednost primerjamo želeno vrednost in trenutno vrednost. Ker želimo stabilizacijo, so želene vrednosti večinoma nič.
Vsaka napaka ima svoj faktor: k1 za položaj, k2 za hitrost, k3 za nagib in k4 za kotno hitrost.
Iz tega dobimo u_L in u_R, nato se pretvori v tokovni ukaz za DDSM115 motorja. To je dejanski odziv koles.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53BB4-3148-F554-23BC-04098BCA7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97D58-100D-17A8-17AF-37507E0F3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AFFA3-CA45-C56E-E468-085D84443E34}"/>
              </a:ext>
            </a:extLst>
          </p:cNvPr>
          <p:cNvSpPr>
            <a:spLocks noGrp="1"/>
          </p:cNvSpPr>
          <p:nvPr>
            <p:ph type="body" idx="1"/>
          </p:nvPr>
        </p:nvSpPr>
        <p:spPr/>
        <p:txBody>
          <a:bodyPr/>
          <a:lstStyle/>
          <a:p>
            <a:r>
              <a:rPr lang="en-US" dirty="0"/>
              <a:t>Na tem slajdu razložim regulacijo. Stanje robota vsebuje položaj, hitrost, nagib in kotno hitrost nagiba.
Za vsako vrednost primerjamo želeno vrednost in trenutno vrednost. Ker želimo stabilizacijo, so želene vrednosti večinoma nič.
Vsaka napaka ima svoj faktor: k1 za položaj, k2 za hitrost, k3 za nagib in k4 za kotno hitrost.
Iz tega dobimo u_L in u_R, nato se pretvori v tokovni ukaz za DDSM115 motorja. To je dejanski odziv koles.</a:t>
            </a:r>
          </a:p>
        </p:txBody>
      </p:sp>
      <p:sp>
        <p:nvSpPr>
          <p:cNvPr id="4" name="Slide Number Placeholder 3">
            <a:extLst>
              <a:ext uri="{FF2B5EF4-FFF2-40B4-BE49-F238E27FC236}">
                <a16:creationId xmlns:a16="http://schemas.microsoft.com/office/drawing/2014/main" id="{2F0398CB-8E04-147B-A5DC-7F172B26380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15458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9FC3-3B64-0672-70AB-B58607FC8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A2317-7135-062F-6049-1768166D7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D563F0-4D24-E230-4C5A-FA1DB487F0D0}"/>
              </a:ext>
            </a:extLst>
          </p:cNvPr>
          <p:cNvSpPr>
            <a:spLocks noGrp="1"/>
          </p:cNvSpPr>
          <p:nvPr>
            <p:ph type="body" idx="1"/>
          </p:nvPr>
        </p:nvSpPr>
        <p:spPr/>
        <p:txBody>
          <a:bodyPr/>
          <a:lstStyle/>
          <a:p>
            <a:r>
              <a:rPr lang="en-US" dirty="0"/>
              <a:t>Na tem slajdu razložim regulacijo. Stanje robota vsebuje položaj, hitrost, nagib in kotno hitrost nagiba.
Za vsako vrednost primerjamo želeno vrednost in trenutno vrednost. Ker želimo stabilizacijo, so želene vrednosti večinoma nič.
Vsaka napaka ima svoj faktor: k1 za položaj, k2 za hitrost, k3 za nagib in k4 za kotno hitrost.
Iz tega dobimo u_L in u_R, nato se pretvori v tokovni ukaz za DDSM115 motorja. To je dejanski odziv koles.</a:t>
            </a:r>
          </a:p>
        </p:txBody>
      </p:sp>
      <p:sp>
        <p:nvSpPr>
          <p:cNvPr id="4" name="Slide Number Placeholder 3">
            <a:extLst>
              <a:ext uri="{FF2B5EF4-FFF2-40B4-BE49-F238E27FC236}">
                <a16:creationId xmlns:a16="http://schemas.microsoft.com/office/drawing/2014/main" id="{822DDAA6-B621-2216-3773-976A5162ABD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78788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3" name="Text 0"/>
          <p:cNvSpPr/>
          <p:nvPr/>
        </p:nvSpPr>
        <p:spPr>
          <a:xfrm>
            <a:off x="566928" y="1234440"/>
            <a:ext cx="4754880" cy="1417320"/>
          </a:xfrm>
          <a:prstGeom prst="rect">
            <a:avLst/>
          </a:prstGeom>
          <a:noFill/>
          <a:ln/>
        </p:spPr>
        <p:txBody>
          <a:bodyPr wrap="square" lIns="0" tIns="0" rIns="0" bIns="0" rtlCol="0" anchor="ctr">
            <a:normAutofit/>
          </a:bodyPr>
          <a:lstStyle/>
          <a:p>
            <a:pPr marL="0" indent="0">
              <a:buNone/>
            </a:pPr>
            <a:r>
              <a:rPr lang="en-US" sz="4200" b="1" dirty="0">
                <a:solidFill>
                  <a:srgbClr val="F4F8FF"/>
                </a:solidFill>
                <a:latin typeface="Aptos Display" pitchFamily="34" charset="0"/>
              </a:rPr>
              <a:t>BIPEDAL ROBOT</a:t>
            </a:r>
            <a:endParaRPr lang="en-US" sz="4200" dirty="0"/>
          </a:p>
        </p:txBody>
      </p:sp>
      <p:sp>
        <p:nvSpPr>
          <p:cNvPr id="9" name="Text 6"/>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1</a:t>
            </a:r>
            <a:endParaRPr lang="en-US" sz="800" dirty="0"/>
          </a:p>
        </p:txBody>
      </p:sp>
      <p:pic>
        <p:nvPicPr>
          <p:cNvPr id="10" name="Picture 9" descr="robotic_platform_on_digital_blueprint_backdrop.png"/>
          <p:cNvPicPr>
            <a:picLocks noChangeAspect="1"/>
          </p:cNvPicPr>
          <p:nvPr/>
        </p:nvPicPr>
        <p:blipFill>
          <a:blip r:embed="rId3"/>
          <a:stretch>
            <a:fillRect/>
          </a:stretch>
        </p:blipFill>
        <p:spPr>
          <a:xfrm>
            <a:off x="5577840" y="360947"/>
            <a:ext cx="6126480" cy="5835316"/>
          </a:xfrm>
          <a:prstGeom prst="rect">
            <a:avLst/>
          </a:prstGeom>
        </p:spPr>
      </p:pic>
      <p:sp>
        <p:nvSpPr>
          <p:cNvPr id="2" name="Podnaslov 2">
            <a:extLst>
              <a:ext uri="{FF2B5EF4-FFF2-40B4-BE49-F238E27FC236}">
                <a16:creationId xmlns:a16="http://schemas.microsoft.com/office/drawing/2014/main" id="{B747557D-98FD-3FD7-77EA-D3FA688AD3B1}"/>
              </a:ext>
            </a:extLst>
          </p:cNvPr>
          <p:cNvSpPr txBox="1">
            <a:spLocks/>
          </p:cNvSpPr>
          <p:nvPr/>
        </p:nvSpPr>
        <p:spPr>
          <a:xfrm>
            <a:off x="487680" y="4865016"/>
            <a:ext cx="4086573" cy="1517088"/>
          </a:xfrm>
          <a:prstGeom prst="rect">
            <a:avLst/>
          </a:prstGeom>
        </p:spPr>
        <p:txBody>
          <a:bodyPr vert="horz" lIns="91440" tIns="45720" rIns="91440" bIns="45720" rtlCol="0">
            <a:normAutofit/>
          </a:bodyPr>
          <a:lstStyle>
            <a:defPPr>
              <a:defRPr lang="en-US"/>
            </a:defPPr>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r>
              <a:rPr lang="sl-SI" sz="1800" dirty="0">
                <a:solidFill>
                  <a:schemeClr val="bg1"/>
                </a:solidFill>
              </a:rPr>
              <a:t>Hristina Nikolovska</a:t>
            </a:r>
            <a:endParaRPr lang="en-US" sz="1800" dirty="0">
              <a:solidFill>
                <a:schemeClr val="bg1"/>
              </a:solidFill>
            </a:endParaRPr>
          </a:p>
          <a:p>
            <a:r>
              <a:rPr lang="sl-SI" sz="1800" dirty="0">
                <a:solidFill>
                  <a:schemeClr val="bg1"/>
                </a:solidFill>
              </a:rPr>
              <a:t>Florijan Štukelj</a:t>
            </a:r>
            <a:endParaRPr lang="en-US" sz="1800" dirty="0">
              <a:solidFill>
                <a:schemeClr val="bg1"/>
              </a:solidFill>
            </a:endParaRPr>
          </a:p>
          <a:p>
            <a:r>
              <a:rPr lang="sl-SI" sz="1800" dirty="0">
                <a:solidFill>
                  <a:schemeClr val="bg1"/>
                </a:solidFill>
              </a:rPr>
              <a:t>Jaka Verk</a:t>
            </a:r>
          </a:p>
          <a:p>
            <a:endParaRPr lang="sl-SI" sz="1800" dirty="0">
              <a:solidFill>
                <a:schemeClr val="bg1"/>
              </a:solidFill>
            </a:endParaRPr>
          </a:p>
          <a:p>
            <a:endParaRPr lang="sl-SI" sz="1800" dirty="0">
              <a:solidFill>
                <a:schemeClr val="bg1"/>
              </a:solidFill>
            </a:endParaRPr>
          </a:p>
        </p:txBody>
      </p:sp>
      <p:sp>
        <p:nvSpPr>
          <p:cNvPr id="4" name="Podnaslov 2">
            <a:extLst>
              <a:ext uri="{FF2B5EF4-FFF2-40B4-BE49-F238E27FC236}">
                <a16:creationId xmlns:a16="http://schemas.microsoft.com/office/drawing/2014/main" id="{BEBE6EBD-C07A-AB48-3051-7670C78BADEA}"/>
              </a:ext>
            </a:extLst>
          </p:cNvPr>
          <p:cNvSpPr>
            <a:spLocks noGrp="1"/>
          </p:cNvSpPr>
          <p:nvPr/>
        </p:nvSpPr>
        <p:spPr>
          <a:xfrm>
            <a:off x="842481" y="2520061"/>
            <a:ext cx="4972512" cy="6081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r>
              <a:rPr lang="sl-SI" sz="2100" dirty="0">
                <a:solidFill>
                  <a:schemeClr val="bg1"/>
                </a:solidFill>
              </a:rPr>
              <a:t>Sistemi daljinskega vodenja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C820D8D2-5C6C-1591-4DAB-2C57F384A33E}"/>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43F02FBA-EE05-E5BB-5DAB-92B28B35BABB}"/>
              </a:ext>
            </a:extLst>
          </p:cNvPr>
          <p:cNvSpPr/>
          <p:nvPr/>
        </p:nvSpPr>
        <p:spPr>
          <a:xfrm>
            <a:off x="502920" y="1078992"/>
            <a:ext cx="11201400" cy="0"/>
          </a:xfrm>
          <a:prstGeom prst="line">
            <a:avLst/>
          </a:prstGeom>
          <a:noFill/>
          <a:ln w="12700">
            <a:solidFill>
              <a:srgbClr val="233B5A"/>
            </a:solidFill>
            <a:prstDash val="solid"/>
          </a:ln>
        </p:spPr>
        <p:txBody>
          <a:bodyPr/>
          <a:lstStyle/>
          <a:p>
            <a:endParaRPr lang="en-US"/>
          </a:p>
        </p:txBody>
      </p:sp>
      <p:sp>
        <p:nvSpPr>
          <p:cNvPr id="8" name="Text 6">
            <a:extLst>
              <a:ext uri="{FF2B5EF4-FFF2-40B4-BE49-F238E27FC236}">
                <a16:creationId xmlns:a16="http://schemas.microsoft.com/office/drawing/2014/main" id="{A5B76A82-2324-2E8B-B818-3068B542B6AE}"/>
              </a:ext>
            </a:extLst>
          </p:cNvPr>
          <p:cNvSpPr/>
          <p:nvPr/>
        </p:nvSpPr>
        <p:spPr>
          <a:xfrm>
            <a:off x="1097280" y="3081528"/>
            <a:ext cx="1828800" cy="228600"/>
          </a:xfrm>
          <a:prstGeom prst="rect">
            <a:avLst/>
          </a:prstGeom>
          <a:noFill/>
          <a:ln/>
        </p:spPr>
        <p:txBody>
          <a:bodyPr wrap="square" lIns="0" tIns="0" rIns="0" bIns="0" rtlCol="0" anchor="ctr"/>
          <a:lstStyle/>
          <a:p>
            <a:pPr marL="0" indent="0">
              <a:buNone/>
            </a:pPr>
            <a:endParaRPr lang="en-US" sz="1500" dirty="0"/>
          </a:p>
        </p:txBody>
      </p:sp>
      <p:sp>
        <p:nvSpPr>
          <p:cNvPr id="22" name="Text 20">
            <a:extLst>
              <a:ext uri="{FF2B5EF4-FFF2-40B4-BE49-F238E27FC236}">
                <a16:creationId xmlns:a16="http://schemas.microsoft.com/office/drawing/2014/main" id="{9296DC06-C814-39C3-D6FC-0DE5EACAEB6A}"/>
              </a:ext>
            </a:extLst>
          </p:cNvPr>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8</a:t>
            </a:r>
            <a:endParaRPr lang="en-US" sz="800" dirty="0"/>
          </a:p>
        </p:txBody>
      </p:sp>
      <p:sp>
        <p:nvSpPr>
          <p:cNvPr id="23" name="Text 0">
            <a:extLst>
              <a:ext uri="{FF2B5EF4-FFF2-40B4-BE49-F238E27FC236}">
                <a16:creationId xmlns:a16="http://schemas.microsoft.com/office/drawing/2014/main" id="{82DFE55D-951F-5DE5-8616-0B2E68E3C387}"/>
              </a:ext>
            </a:extLst>
          </p:cNvPr>
          <p:cNvSpPr/>
          <p:nvPr/>
        </p:nvSpPr>
        <p:spPr>
          <a:xfrm>
            <a:off x="487680" y="443784"/>
            <a:ext cx="8046720" cy="411480"/>
          </a:xfrm>
          <a:prstGeom prst="rect">
            <a:avLst/>
          </a:prstGeom>
          <a:noFill/>
          <a:ln/>
        </p:spPr>
        <p:txBody>
          <a:bodyPr wrap="square" lIns="0" tIns="0" rIns="0" bIns="0" rtlCol="0" anchor="ctr"/>
          <a:lstStyle/>
          <a:p>
            <a:r>
              <a:rPr lang="en-SI" sz="3600" b="1" dirty="0" err="1">
                <a:solidFill>
                  <a:srgbClr val="F4F8FF"/>
                </a:solidFill>
                <a:latin typeface="Aptos Display" pitchFamily="34" charset="0"/>
              </a:rPr>
              <a:t>Arhitektura</a:t>
            </a:r>
            <a:r>
              <a:rPr lang="en-SI" sz="3600" b="1" dirty="0">
                <a:solidFill>
                  <a:srgbClr val="F4F8FF"/>
                </a:solidFill>
                <a:latin typeface="Aptos Display" pitchFamily="34" charset="0"/>
              </a:rPr>
              <a:t> </a:t>
            </a:r>
            <a:r>
              <a:rPr lang="en-SI" sz="3600" b="1" dirty="0" err="1">
                <a:solidFill>
                  <a:srgbClr val="F4F8FF"/>
                </a:solidFill>
                <a:latin typeface="Aptos Display" pitchFamily="34" charset="0"/>
              </a:rPr>
              <a:t>sistema</a:t>
            </a:r>
            <a:endParaRPr lang="en-US" sz="3600" dirty="0"/>
          </a:p>
        </p:txBody>
      </p:sp>
      <p:pic>
        <p:nvPicPr>
          <p:cNvPr id="2" name="Picture 1">
            <a:extLst>
              <a:ext uri="{FF2B5EF4-FFF2-40B4-BE49-F238E27FC236}">
                <a16:creationId xmlns:a16="http://schemas.microsoft.com/office/drawing/2014/main" id="{2AF37BE5-432F-4AC7-3010-2EF8838C4280}"/>
              </a:ext>
            </a:extLst>
          </p:cNvPr>
          <p:cNvPicPr>
            <a:picLocks noChangeAspect="1"/>
          </p:cNvPicPr>
          <p:nvPr/>
        </p:nvPicPr>
        <p:blipFill>
          <a:blip r:embed="rId3"/>
          <a:stretch>
            <a:fillRect/>
          </a:stretch>
        </p:blipFill>
        <p:spPr>
          <a:xfrm>
            <a:off x="1086164" y="1097280"/>
            <a:ext cx="9862730" cy="5550735"/>
          </a:xfrm>
          <a:prstGeom prst="rect">
            <a:avLst/>
          </a:prstGeom>
        </p:spPr>
      </p:pic>
    </p:spTree>
    <p:extLst>
      <p:ext uri="{BB962C8B-B14F-4D97-AF65-F5344CB8AC3E}">
        <p14:creationId xmlns:p14="http://schemas.microsoft.com/office/powerpoint/2010/main" val="688459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AD489998-A2FF-B718-FC3E-2FC75403BB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526321-AF85-A972-3B72-E710371A759D}"/>
              </a:ext>
            </a:extLst>
          </p:cNvPr>
          <p:cNvSpPr/>
          <p:nvPr/>
        </p:nvSpPr>
        <p:spPr>
          <a:xfrm>
            <a:off x="502920" y="320040"/>
            <a:ext cx="8046720" cy="411480"/>
          </a:xfrm>
          <a:prstGeom prst="rect">
            <a:avLst/>
          </a:prstGeom>
          <a:noFill/>
          <a:ln/>
        </p:spPr>
        <p:txBody>
          <a:bodyPr wrap="square" lIns="0" tIns="0" rIns="0" bIns="0" rtlCol="0" anchor="ctr"/>
          <a:lstStyle/>
          <a:p>
            <a:pPr marL="0" indent="0">
              <a:buNone/>
            </a:pPr>
            <a:endParaRPr lang="en-US" sz="3600" dirty="0"/>
          </a:p>
        </p:txBody>
      </p:sp>
      <p:sp>
        <p:nvSpPr>
          <p:cNvPr id="4" name="Shape 2">
            <a:extLst>
              <a:ext uri="{FF2B5EF4-FFF2-40B4-BE49-F238E27FC236}">
                <a16:creationId xmlns:a16="http://schemas.microsoft.com/office/drawing/2014/main" id="{67AA41CF-A665-CB7E-35E4-D753033FCCE8}"/>
              </a:ext>
            </a:extLst>
          </p:cNvPr>
          <p:cNvSpPr/>
          <p:nvPr/>
        </p:nvSpPr>
        <p:spPr>
          <a:xfrm>
            <a:off x="502920" y="1078992"/>
            <a:ext cx="11201400" cy="0"/>
          </a:xfrm>
          <a:prstGeom prst="line">
            <a:avLst/>
          </a:prstGeom>
          <a:noFill/>
          <a:ln w="12700">
            <a:solidFill>
              <a:srgbClr val="233B5A"/>
            </a:solidFill>
            <a:prstDash val="solid"/>
          </a:ln>
        </p:spPr>
        <p:txBody>
          <a:bodyPr/>
          <a:lstStyle/>
          <a:p>
            <a:endParaRPr lang="en-US"/>
          </a:p>
        </p:txBody>
      </p:sp>
      <p:sp>
        <p:nvSpPr>
          <p:cNvPr id="5" name="Shape 3">
            <a:extLst>
              <a:ext uri="{FF2B5EF4-FFF2-40B4-BE49-F238E27FC236}">
                <a16:creationId xmlns:a16="http://schemas.microsoft.com/office/drawing/2014/main" id="{11C766CB-6488-D9F0-13A7-C6201B8CFDD0}"/>
              </a:ext>
            </a:extLst>
          </p:cNvPr>
          <p:cNvSpPr/>
          <p:nvPr/>
        </p:nvSpPr>
        <p:spPr>
          <a:xfrm>
            <a:off x="822960" y="1325880"/>
            <a:ext cx="10561320" cy="922428"/>
          </a:xfrm>
          <a:prstGeom prst="roundRect">
            <a:avLst>
              <a:gd name="adj" fmla="val 6957"/>
            </a:avLst>
          </a:prstGeom>
          <a:solidFill>
            <a:srgbClr val="132238"/>
          </a:solidFill>
          <a:ln w="12700">
            <a:solidFill>
              <a:srgbClr val="233B5A"/>
            </a:solidFill>
            <a:prstDash val="solid"/>
          </a:ln>
        </p:spPr>
        <p:txBody>
          <a:bodyPr/>
          <a:lstStyle/>
          <a:p>
            <a:endParaRPr lang="en-US"/>
          </a:p>
        </p:txBody>
      </p:sp>
      <p:sp>
        <p:nvSpPr>
          <p:cNvPr id="6" name="Text 4">
            <a:extLst>
              <a:ext uri="{FF2B5EF4-FFF2-40B4-BE49-F238E27FC236}">
                <a16:creationId xmlns:a16="http://schemas.microsoft.com/office/drawing/2014/main" id="{9BD78F87-F475-A581-66E0-FD1BBDB05FA7}"/>
              </a:ext>
            </a:extLst>
          </p:cNvPr>
          <p:cNvSpPr/>
          <p:nvPr/>
        </p:nvSpPr>
        <p:spPr>
          <a:xfrm>
            <a:off x="2956560" y="1600200"/>
            <a:ext cx="6156960" cy="320040"/>
          </a:xfrm>
          <a:prstGeom prst="rect">
            <a:avLst/>
          </a:prstGeom>
          <a:noFill/>
          <a:ln/>
        </p:spPr>
        <p:txBody>
          <a:bodyPr wrap="square" lIns="0" tIns="0" rIns="0" bIns="0" rtlCol="0" anchor="ctr"/>
          <a:lstStyle/>
          <a:p>
            <a:pPr marL="0" indent="0" algn="ctr">
              <a:buNone/>
            </a:pPr>
            <a:r>
              <a:rPr lang="en-US" sz="2200" b="1" dirty="0">
                <a:solidFill>
                  <a:srgbClr val="F4F8FF"/>
                </a:solidFill>
              </a:rPr>
              <a:t>u = k · [ k₁(xᵈ−x) + k₂(vᵈ−v) + k₃(φᵈ−φ) + k₄(ωᵈ−ω) ]</a:t>
            </a:r>
            <a:endParaRPr lang="en-US" sz="2200" dirty="0"/>
          </a:p>
        </p:txBody>
      </p:sp>
      <p:grpSp>
        <p:nvGrpSpPr>
          <p:cNvPr id="23" name="Skupina 22">
            <a:extLst>
              <a:ext uri="{FF2B5EF4-FFF2-40B4-BE49-F238E27FC236}">
                <a16:creationId xmlns:a16="http://schemas.microsoft.com/office/drawing/2014/main" id="{877A3DDA-40FB-F77F-E58C-06058D863029}"/>
              </a:ext>
            </a:extLst>
          </p:cNvPr>
          <p:cNvGrpSpPr/>
          <p:nvPr/>
        </p:nvGrpSpPr>
        <p:grpSpPr>
          <a:xfrm>
            <a:off x="502920" y="2917066"/>
            <a:ext cx="2103120" cy="809245"/>
            <a:chOff x="960120" y="2971800"/>
            <a:chExt cx="2103120" cy="960120"/>
          </a:xfrm>
        </p:grpSpPr>
        <p:sp>
          <p:nvSpPr>
            <p:cNvPr id="7" name="Shape 5">
              <a:extLst>
                <a:ext uri="{FF2B5EF4-FFF2-40B4-BE49-F238E27FC236}">
                  <a16:creationId xmlns:a16="http://schemas.microsoft.com/office/drawing/2014/main" id="{46BEAD9F-2E05-FD69-ED31-FF1B2197F11E}"/>
                </a:ext>
              </a:extLst>
            </p:cNvPr>
            <p:cNvSpPr/>
            <p:nvPr/>
          </p:nvSpPr>
          <p:spPr>
            <a:xfrm>
              <a:off x="960120" y="2971800"/>
              <a:ext cx="2103120" cy="960120"/>
            </a:xfrm>
            <a:prstGeom prst="roundRect">
              <a:avLst>
                <a:gd name="adj" fmla="val 7619"/>
              </a:avLst>
            </a:prstGeom>
            <a:solidFill>
              <a:srgbClr val="132238"/>
            </a:solidFill>
            <a:ln w="12700">
              <a:solidFill>
                <a:srgbClr val="41D9FF"/>
              </a:solidFill>
              <a:prstDash val="solid"/>
            </a:ln>
          </p:spPr>
          <p:txBody>
            <a:bodyPr/>
            <a:lstStyle/>
            <a:p>
              <a:endParaRPr lang="en-US"/>
            </a:p>
          </p:txBody>
        </p:sp>
        <p:sp>
          <p:nvSpPr>
            <p:cNvPr id="8" name="Text 6">
              <a:extLst>
                <a:ext uri="{FF2B5EF4-FFF2-40B4-BE49-F238E27FC236}">
                  <a16:creationId xmlns:a16="http://schemas.microsoft.com/office/drawing/2014/main" id="{F91E710C-4DBB-E943-FBA2-4CB56E15B74D}"/>
                </a:ext>
              </a:extLst>
            </p:cNvPr>
            <p:cNvSpPr/>
            <p:nvPr/>
          </p:nvSpPr>
          <p:spPr>
            <a:xfrm>
              <a:off x="1097280" y="3081528"/>
              <a:ext cx="1828800" cy="228600"/>
            </a:xfrm>
            <a:prstGeom prst="rect">
              <a:avLst/>
            </a:prstGeom>
            <a:noFill/>
            <a:ln/>
          </p:spPr>
          <p:txBody>
            <a:bodyPr wrap="square" lIns="0" tIns="0" rIns="0" bIns="0" rtlCol="0" anchor="ctr"/>
            <a:lstStyle/>
            <a:p>
              <a:pPr marL="0" indent="0">
                <a:buNone/>
              </a:pPr>
              <a:r>
                <a:rPr lang="en-US" sz="1500" b="1" dirty="0">
                  <a:solidFill>
                    <a:srgbClr val="F4F8FF"/>
                  </a:solidFill>
                </a:rPr>
                <a:t>x</a:t>
              </a:r>
              <a:r>
                <a:rPr lang="sl-SI" sz="1500" b="1" dirty="0">
                  <a:solidFill>
                    <a:srgbClr val="F4F8FF"/>
                  </a:solidFill>
                </a:rPr>
                <a:t> </a:t>
              </a:r>
              <a:endParaRPr lang="en-US" sz="1500" dirty="0"/>
            </a:p>
          </p:txBody>
        </p:sp>
        <p:sp>
          <p:nvSpPr>
            <p:cNvPr id="9" name="Text 7">
              <a:extLst>
                <a:ext uri="{FF2B5EF4-FFF2-40B4-BE49-F238E27FC236}">
                  <a16:creationId xmlns:a16="http://schemas.microsoft.com/office/drawing/2014/main" id="{265B23F5-5E1F-066A-945D-93FF0E35F942}"/>
                </a:ext>
              </a:extLst>
            </p:cNvPr>
            <p:cNvSpPr/>
            <p:nvPr/>
          </p:nvSpPr>
          <p:spPr>
            <a:xfrm>
              <a:off x="109728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položaj robota</a:t>
              </a:r>
              <a:endParaRPr lang="en-US" sz="1050" dirty="0"/>
            </a:p>
          </p:txBody>
        </p:sp>
      </p:grpSp>
      <p:grpSp>
        <p:nvGrpSpPr>
          <p:cNvPr id="24" name="Skupina 23">
            <a:extLst>
              <a:ext uri="{FF2B5EF4-FFF2-40B4-BE49-F238E27FC236}">
                <a16:creationId xmlns:a16="http://schemas.microsoft.com/office/drawing/2014/main" id="{F2607D2C-70BC-88DE-D5F3-70AFBFD04EFC}"/>
              </a:ext>
            </a:extLst>
          </p:cNvPr>
          <p:cNvGrpSpPr/>
          <p:nvPr/>
        </p:nvGrpSpPr>
        <p:grpSpPr>
          <a:xfrm>
            <a:off x="502920" y="3807235"/>
            <a:ext cx="2103120" cy="809245"/>
            <a:chOff x="3749040" y="2971800"/>
            <a:chExt cx="2103120" cy="960120"/>
          </a:xfrm>
        </p:grpSpPr>
        <p:sp>
          <p:nvSpPr>
            <p:cNvPr id="10" name="Shape 8">
              <a:extLst>
                <a:ext uri="{FF2B5EF4-FFF2-40B4-BE49-F238E27FC236}">
                  <a16:creationId xmlns:a16="http://schemas.microsoft.com/office/drawing/2014/main" id="{3CC430CC-D5C4-DF5E-08D8-6EDC154AC580}"/>
                </a:ext>
              </a:extLst>
            </p:cNvPr>
            <p:cNvSpPr/>
            <p:nvPr/>
          </p:nvSpPr>
          <p:spPr>
            <a:xfrm>
              <a:off x="3749040" y="2971800"/>
              <a:ext cx="2103120" cy="960120"/>
            </a:xfrm>
            <a:prstGeom prst="roundRect">
              <a:avLst>
                <a:gd name="adj" fmla="val 7619"/>
              </a:avLst>
            </a:prstGeom>
            <a:solidFill>
              <a:srgbClr val="132238"/>
            </a:solidFill>
            <a:ln w="12700">
              <a:solidFill>
                <a:srgbClr val="4CE0A7"/>
              </a:solidFill>
              <a:prstDash val="solid"/>
            </a:ln>
          </p:spPr>
          <p:txBody>
            <a:bodyPr/>
            <a:lstStyle/>
            <a:p>
              <a:endParaRPr lang="en-US" dirty="0"/>
            </a:p>
          </p:txBody>
        </p:sp>
        <p:sp>
          <p:nvSpPr>
            <p:cNvPr id="11" name="Text 9">
              <a:extLst>
                <a:ext uri="{FF2B5EF4-FFF2-40B4-BE49-F238E27FC236}">
                  <a16:creationId xmlns:a16="http://schemas.microsoft.com/office/drawing/2014/main" id="{B8C2D823-FB25-BF18-1D2D-FF6930FD2007}"/>
                </a:ext>
              </a:extLst>
            </p:cNvPr>
            <p:cNvSpPr/>
            <p:nvPr/>
          </p:nvSpPr>
          <p:spPr>
            <a:xfrm>
              <a:off x="3886200" y="3081528"/>
              <a:ext cx="1828800" cy="228600"/>
            </a:xfrm>
            <a:prstGeom prst="rect">
              <a:avLst/>
            </a:prstGeom>
            <a:noFill/>
            <a:ln/>
          </p:spPr>
          <p:txBody>
            <a:bodyPr wrap="square" lIns="0" tIns="0" rIns="0" bIns="0" rtlCol="0" anchor="ctr"/>
            <a:lstStyle/>
            <a:p>
              <a:pPr marL="0" indent="0">
                <a:buNone/>
              </a:pPr>
              <a:r>
                <a:rPr lang="en-US" sz="1500" b="1" dirty="0">
                  <a:solidFill>
                    <a:srgbClr val="F4F8FF"/>
                  </a:solidFill>
                </a:rPr>
                <a:t>v</a:t>
              </a:r>
              <a:endParaRPr lang="en-US" sz="1500" dirty="0"/>
            </a:p>
          </p:txBody>
        </p:sp>
        <p:sp>
          <p:nvSpPr>
            <p:cNvPr id="12" name="Text 10">
              <a:extLst>
                <a:ext uri="{FF2B5EF4-FFF2-40B4-BE49-F238E27FC236}">
                  <a16:creationId xmlns:a16="http://schemas.microsoft.com/office/drawing/2014/main" id="{D28075E4-B384-8332-6154-BED61244C30D}"/>
                </a:ext>
              </a:extLst>
            </p:cNvPr>
            <p:cNvSpPr/>
            <p:nvPr/>
          </p:nvSpPr>
          <p:spPr>
            <a:xfrm>
              <a:off x="388620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linearna hitrost</a:t>
              </a:r>
              <a:endParaRPr lang="en-US" sz="1050" dirty="0"/>
            </a:p>
          </p:txBody>
        </p:sp>
      </p:grpSp>
      <p:grpSp>
        <p:nvGrpSpPr>
          <p:cNvPr id="25" name="Skupina 24">
            <a:extLst>
              <a:ext uri="{FF2B5EF4-FFF2-40B4-BE49-F238E27FC236}">
                <a16:creationId xmlns:a16="http://schemas.microsoft.com/office/drawing/2014/main" id="{9C99FB91-E816-37F7-2F61-87EB5769C9F7}"/>
              </a:ext>
            </a:extLst>
          </p:cNvPr>
          <p:cNvGrpSpPr/>
          <p:nvPr/>
        </p:nvGrpSpPr>
        <p:grpSpPr>
          <a:xfrm>
            <a:off x="502920" y="4679931"/>
            <a:ext cx="2103120" cy="809245"/>
            <a:chOff x="6537960" y="2971800"/>
            <a:chExt cx="2103120" cy="960120"/>
          </a:xfrm>
        </p:grpSpPr>
        <p:sp>
          <p:nvSpPr>
            <p:cNvPr id="13" name="Shape 11">
              <a:extLst>
                <a:ext uri="{FF2B5EF4-FFF2-40B4-BE49-F238E27FC236}">
                  <a16:creationId xmlns:a16="http://schemas.microsoft.com/office/drawing/2014/main" id="{2F528B10-3F7B-D996-C5A1-F9987D701FC6}"/>
                </a:ext>
              </a:extLst>
            </p:cNvPr>
            <p:cNvSpPr/>
            <p:nvPr/>
          </p:nvSpPr>
          <p:spPr>
            <a:xfrm>
              <a:off x="6537960" y="2971800"/>
              <a:ext cx="2103120" cy="960120"/>
            </a:xfrm>
            <a:prstGeom prst="roundRect">
              <a:avLst>
                <a:gd name="adj" fmla="val 7619"/>
              </a:avLst>
            </a:prstGeom>
            <a:solidFill>
              <a:srgbClr val="132238"/>
            </a:solidFill>
            <a:ln w="12700">
              <a:solidFill>
                <a:srgbClr val="FFB547"/>
              </a:solidFill>
              <a:prstDash val="solid"/>
            </a:ln>
          </p:spPr>
          <p:txBody>
            <a:bodyPr/>
            <a:lstStyle/>
            <a:p>
              <a:endParaRPr lang="en-US"/>
            </a:p>
          </p:txBody>
        </p:sp>
        <p:sp>
          <p:nvSpPr>
            <p:cNvPr id="14" name="Text 12">
              <a:extLst>
                <a:ext uri="{FF2B5EF4-FFF2-40B4-BE49-F238E27FC236}">
                  <a16:creationId xmlns:a16="http://schemas.microsoft.com/office/drawing/2014/main" id="{9F2FA454-4EC8-47F1-5AEF-097B842CF546}"/>
                </a:ext>
              </a:extLst>
            </p:cNvPr>
            <p:cNvSpPr/>
            <p:nvPr/>
          </p:nvSpPr>
          <p:spPr>
            <a:xfrm>
              <a:off x="6675120" y="3081528"/>
              <a:ext cx="1828800" cy="228600"/>
            </a:xfrm>
            <a:prstGeom prst="rect">
              <a:avLst/>
            </a:prstGeom>
            <a:noFill/>
            <a:ln/>
          </p:spPr>
          <p:txBody>
            <a:bodyPr wrap="square" lIns="0" tIns="0" rIns="0" bIns="0" rtlCol="0" anchor="ctr"/>
            <a:lstStyle/>
            <a:p>
              <a:pPr marL="0" indent="0">
                <a:buNone/>
              </a:pPr>
              <a:r>
                <a:rPr lang="el-GR" sz="1500" b="1" dirty="0">
                  <a:solidFill>
                    <a:srgbClr val="F4F8FF"/>
                  </a:solidFill>
                </a:rPr>
                <a:t>Φ</a:t>
              </a:r>
              <a:r>
                <a:rPr lang="sl-SI" sz="1500" b="1" dirty="0">
                  <a:solidFill>
                    <a:srgbClr val="F4F8FF"/>
                  </a:solidFill>
                </a:rPr>
                <a:t>  +  </a:t>
              </a:r>
              <a:r>
                <a:rPr lang="sl-SI" sz="1500" b="1" dirty="0" err="1">
                  <a:solidFill>
                    <a:srgbClr val="F4F8FF"/>
                  </a:solidFill>
                </a:rPr>
                <a:t>senzor_offset</a:t>
              </a:r>
              <a:endParaRPr lang="en-US" sz="1500" dirty="0"/>
            </a:p>
          </p:txBody>
        </p:sp>
        <p:sp>
          <p:nvSpPr>
            <p:cNvPr id="15" name="Text 13">
              <a:extLst>
                <a:ext uri="{FF2B5EF4-FFF2-40B4-BE49-F238E27FC236}">
                  <a16:creationId xmlns:a16="http://schemas.microsoft.com/office/drawing/2014/main" id="{078AF3B2-0D5C-CD9A-4FDF-85761E4CC82C}"/>
                </a:ext>
              </a:extLst>
            </p:cNvPr>
            <p:cNvSpPr/>
            <p:nvPr/>
          </p:nvSpPr>
          <p:spPr>
            <a:xfrm>
              <a:off x="667512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nagib robota</a:t>
              </a:r>
              <a:endParaRPr lang="en-US" sz="1050" dirty="0"/>
            </a:p>
          </p:txBody>
        </p:sp>
      </p:grpSp>
      <p:grpSp>
        <p:nvGrpSpPr>
          <p:cNvPr id="26" name="Skupina 25">
            <a:extLst>
              <a:ext uri="{FF2B5EF4-FFF2-40B4-BE49-F238E27FC236}">
                <a16:creationId xmlns:a16="http://schemas.microsoft.com/office/drawing/2014/main" id="{1E267A5E-77FA-6775-6371-ABB9EFBC0D73}"/>
              </a:ext>
            </a:extLst>
          </p:cNvPr>
          <p:cNvGrpSpPr/>
          <p:nvPr/>
        </p:nvGrpSpPr>
        <p:grpSpPr>
          <a:xfrm>
            <a:off x="487680" y="5559258"/>
            <a:ext cx="2103120" cy="809244"/>
            <a:chOff x="9326880" y="2971800"/>
            <a:chExt cx="2103120" cy="960120"/>
          </a:xfrm>
        </p:grpSpPr>
        <p:sp>
          <p:nvSpPr>
            <p:cNvPr id="16" name="Shape 14">
              <a:extLst>
                <a:ext uri="{FF2B5EF4-FFF2-40B4-BE49-F238E27FC236}">
                  <a16:creationId xmlns:a16="http://schemas.microsoft.com/office/drawing/2014/main" id="{FF7B47BA-0230-45C7-35C4-18D5D72D96DE}"/>
                </a:ext>
              </a:extLst>
            </p:cNvPr>
            <p:cNvSpPr/>
            <p:nvPr/>
          </p:nvSpPr>
          <p:spPr>
            <a:xfrm>
              <a:off x="9326880" y="2971800"/>
              <a:ext cx="2103120" cy="960120"/>
            </a:xfrm>
            <a:prstGeom prst="roundRect">
              <a:avLst>
                <a:gd name="adj" fmla="val 7619"/>
              </a:avLst>
            </a:prstGeom>
            <a:solidFill>
              <a:srgbClr val="132238"/>
            </a:solidFill>
            <a:ln w="12700">
              <a:solidFill>
                <a:srgbClr val="2E6BFF"/>
              </a:solidFill>
              <a:prstDash val="solid"/>
            </a:ln>
          </p:spPr>
          <p:txBody>
            <a:bodyPr/>
            <a:lstStyle/>
            <a:p>
              <a:endParaRPr lang="en-US"/>
            </a:p>
          </p:txBody>
        </p:sp>
        <p:sp>
          <p:nvSpPr>
            <p:cNvPr id="17" name="Text 15">
              <a:extLst>
                <a:ext uri="{FF2B5EF4-FFF2-40B4-BE49-F238E27FC236}">
                  <a16:creationId xmlns:a16="http://schemas.microsoft.com/office/drawing/2014/main" id="{EA1B4D1E-4AC1-EAF1-0734-6D67138CDAB8}"/>
                </a:ext>
              </a:extLst>
            </p:cNvPr>
            <p:cNvSpPr/>
            <p:nvPr/>
          </p:nvSpPr>
          <p:spPr>
            <a:xfrm>
              <a:off x="9464040" y="3081528"/>
              <a:ext cx="1828800" cy="228600"/>
            </a:xfrm>
            <a:prstGeom prst="rect">
              <a:avLst/>
            </a:prstGeom>
            <a:noFill/>
            <a:ln/>
          </p:spPr>
          <p:txBody>
            <a:bodyPr wrap="square" lIns="0" tIns="0" rIns="0" bIns="0" rtlCol="0" anchor="ctr"/>
            <a:lstStyle/>
            <a:p>
              <a:pPr marL="0" indent="0">
                <a:buNone/>
              </a:pPr>
              <a:r>
                <a:rPr lang="en-US" sz="1500" b="1" dirty="0">
                  <a:solidFill>
                    <a:srgbClr val="F4F8FF"/>
                  </a:solidFill>
                </a:rPr>
                <a:t>ω</a:t>
              </a:r>
              <a:endParaRPr lang="en-US" sz="1500" dirty="0"/>
            </a:p>
          </p:txBody>
        </p:sp>
        <p:sp>
          <p:nvSpPr>
            <p:cNvPr id="18" name="Text 16">
              <a:extLst>
                <a:ext uri="{FF2B5EF4-FFF2-40B4-BE49-F238E27FC236}">
                  <a16:creationId xmlns:a16="http://schemas.microsoft.com/office/drawing/2014/main" id="{EA292CC2-2A7B-3CEE-44D0-7BB0D584D6EA}"/>
                </a:ext>
              </a:extLst>
            </p:cNvPr>
            <p:cNvSpPr/>
            <p:nvPr/>
          </p:nvSpPr>
          <p:spPr>
            <a:xfrm>
              <a:off x="946404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kotna hitrost nagiba</a:t>
              </a:r>
              <a:endParaRPr lang="en-US" sz="1050" dirty="0"/>
            </a:p>
          </p:txBody>
        </p:sp>
      </p:grpSp>
      <p:sp>
        <p:nvSpPr>
          <p:cNvPr id="22" name="Text 20">
            <a:extLst>
              <a:ext uri="{FF2B5EF4-FFF2-40B4-BE49-F238E27FC236}">
                <a16:creationId xmlns:a16="http://schemas.microsoft.com/office/drawing/2014/main" id="{B296BA65-71BE-9ABC-4D62-28B184EA6EA2}"/>
              </a:ext>
            </a:extLst>
          </p:cNvPr>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8</a:t>
            </a:r>
            <a:endParaRPr lang="en-US" sz="800" dirty="0"/>
          </a:p>
        </p:txBody>
      </p:sp>
      <p:sp>
        <p:nvSpPr>
          <p:cNvPr id="3" name="Text 0">
            <a:extLst>
              <a:ext uri="{FF2B5EF4-FFF2-40B4-BE49-F238E27FC236}">
                <a16:creationId xmlns:a16="http://schemas.microsoft.com/office/drawing/2014/main" id="{08513DDD-E41B-60E9-A65A-B45CDEFDA20E}"/>
              </a:ext>
            </a:extLst>
          </p:cNvPr>
          <p:cNvSpPr/>
          <p:nvPr/>
        </p:nvSpPr>
        <p:spPr>
          <a:xfrm>
            <a:off x="487680" y="256375"/>
            <a:ext cx="8046720" cy="827744"/>
          </a:xfrm>
          <a:prstGeom prst="rect">
            <a:avLst/>
          </a:prstGeom>
          <a:noFill/>
          <a:ln/>
        </p:spPr>
        <p:txBody>
          <a:bodyPr wrap="square" lIns="0" tIns="0" rIns="0" bIns="0" rtlCol="0" anchor="ctr"/>
          <a:lstStyle/>
          <a:p>
            <a:r>
              <a:rPr lang="en-US" sz="3600" b="1" dirty="0" err="1">
                <a:solidFill>
                  <a:srgbClr val="F4F8FF"/>
                </a:solidFill>
                <a:latin typeface="Aptos Display" pitchFamily="34" charset="0"/>
                <a:ea typeface="Aptos Display" pitchFamily="34" charset="-122"/>
                <a:cs typeface="Aptos Display" pitchFamily="34" charset="-120"/>
              </a:rPr>
              <a:t>Regulacija</a:t>
            </a:r>
            <a:r>
              <a:rPr lang="en-US" sz="3600" b="1" dirty="0">
                <a:solidFill>
                  <a:srgbClr val="F4F8FF"/>
                </a:solidFill>
                <a:latin typeface="Aptos Display" pitchFamily="34" charset="0"/>
                <a:ea typeface="Aptos Display" pitchFamily="34" charset="-122"/>
                <a:cs typeface="Aptos Display" pitchFamily="34" charset="-120"/>
              </a:rPr>
              <a:t> </a:t>
            </a:r>
            <a:r>
              <a:rPr lang="en-US" sz="3600" b="1" dirty="0" err="1">
                <a:solidFill>
                  <a:srgbClr val="F4F8FF"/>
                </a:solidFill>
                <a:latin typeface="Aptos Display" pitchFamily="34" charset="0"/>
                <a:ea typeface="Aptos Display" pitchFamily="34" charset="-122"/>
                <a:cs typeface="Aptos Display" pitchFamily="34" charset="-120"/>
              </a:rPr>
              <a:t>stabilizacije</a:t>
            </a:r>
            <a:r>
              <a:rPr lang="sl-SI" sz="3600" b="1" dirty="0">
                <a:solidFill>
                  <a:srgbClr val="F4F8FF"/>
                </a:solidFill>
                <a:latin typeface="Aptos Display" pitchFamily="34" charset="0"/>
                <a:ea typeface="Aptos Display" pitchFamily="34" charset="-122"/>
                <a:cs typeface="Aptos Display" pitchFamily="34" charset="-120"/>
              </a:rPr>
              <a:t> </a:t>
            </a:r>
            <a:endParaRPr lang="en-US" sz="3600" dirty="0"/>
          </a:p>
        </p:txBody>
      </p:sp>
      <p:sp>
        <p:nvSpPr>
          <p:cNvPr id="27" name="Text 18">
            <a:extLst>
              <a:ext uri="{FF2B5EF4-FFF2-40B4-BE49-F238E27FC236}">
                <a16:creationId xmlns:a16="http://schemas.microsoft.com/office/drawing/2014/main" id="{A55BFAB1-DA8C-2C52-FA98-5E8AC99358EB}"/>
              </a:ext>
            </a:extLst>
          </p:cNvPr>
          <p:cNvSpPr/>
          <p:nvPr/>
        </p:nvSpPr>
        <p:spPr>
          <a:xfrm>
            <a:off x="640080" y="2576488"/>
            <a:ext cx="1424157" cy="228600"/>
          </a:xfrm>
          <a:prstGeom prst="rect">
            <a:avLst/>
          </a:prstGeom>
          <a:noFill/>
          <a:ln/>
        </p:spPr>
        <p:txBody>
          <a:bodyPr wrap="square" lIns="0" tIns="0" rIns="0" bIns="0" rtlCol="0" anchor="ctr"/>
          <a:lstStyle/>
          <a:p>
            <a:pPr marL="0" indent="0">
              <a:buNone/>
            </a:pPr>
            <a:r>
              <a:rPr lang="sl-SI" sz="1500" b="1" dirty="0">
                <a:solidFill>
                  <a:srgbClr val="F4F8FF"/>
                </a:solidFill>
              </a:rPr>
              <a:t>Vektor stanj:</a:t>
            </a:r>
            <a:endParaRPr lang="en-US" sz="1500" dirty="0"/>
          </a:p>
        </p:txBody>
      </p:sp>
      <p:grpSp>
        <p:nvGrpSpPr>
          <p:cNvPr id="28" name="Skupina 27">
            <a:extLst>
              <a:ext uri="{FF2B5EF4-FFF2-40B4-BE49-F238E27FC236}">
                <a16:creationId xmlns:a16="http://schemas.microsoft.com/office/drawing/2014/main" id="{3314E91F-DFFF-BCE9-95D4-086AB11604CC}"/>
              </a:ext>
            </a:extLst>
          </p:cNvPr>
          <p:cNvGrpSpPr/>
          <p:nvPr/>
        </p:nvGrpSpPr>
        <p:grpSpPr>
          <a:xfrm>
            <a:off x="2956560" y="2917066"/>
            <a:ext cx="2103120" cy="809245"/>
            <a:chOff x="960120" y="2971800"/>
            <a:chExt cx="2103120" cy="960120"/>
          </a:xfrm>
        </p:grpSpPr>
        <p:sp>
          <p:nvSpPr>
            <p:cNvPr id="29" name="Shape 5">
              <a:extLst>
                <a:ext uri="{FF2B5EF4-FFF2-40B4-BE49-F238E27FC236}">
                  <a16:creationId xmlns:a16="http://schemas.microsoft.com/office/drawing/2014/main" id="{6D5F2210-357D-9144-963B-DABCAD47AC2B}"/>
                </a:ext>
              </a:extLst>
            </p:cNvPr>
            <p:cNvSpPr/>
            <p:nvPr/>
          </p:nvSpPr>
          <p:spPr>
            <a:xfrm>
              <a:off x="960120" y="2971800"/>
              <a:ext cx="2103120" cy="960120"/>
            </a:xfrm>
            <a:prstGeom prst="roundRect">
              <a:avLst>
                <a:gd name="adj" fmla="val 7619"/>
              </a:avLst>
            </a:prstGeom>
            <a:solidFill>
              <a:srgbClr val="132238"/>
            </a:solidFill>
            <a:ln w="12700">
              <a:solidFill>
                <a:srgbClr val="41D9FF"/>
              </a:solidFill>
              <a:prstDash val="solid"/>
            </a:ln>
          </p:spPr>
          <p:txBody>
            <a:bodyPr/>
            <a:lstStyle/>
            <a:p>
              <a:endParaRPr lang="en-US" dirty="0"/>
            </a:p>
          </p:txBody>
        </p:sp>
        <p:sp>
          <p:nvSpPr>
            <p:cNvPr id="30" name="Text 6">
              <a:extLst>
                <a:ext uri="{FF2B5EF4-FFF2-40B4-BE49-F238E27FC236}">
                  <a16:creationId xmlns:a16="http://schemas.microsoft.com/office/drawing/2014/main" id="{3C00E32A-5080-54D9-0FEE-0EBF6A7578AB}"/>
                </a:ext>
              </a:extLst>
            </p:cNvPr>
            <p:cNvSpPr/>
            <p:nvPr/>
          </p:nvSpPr>
          <p:spPr>
            <a:xfrm>
              <a:off x="1097280" y="3081528"/>
              <a:ext cx="1828800" cy="228600"/>
            </a:xfrm>
            <a:prstGeom prst="rect">
              <a:avLst/>
            </a:prstGeom>
            <a:noFill/>
            <a:ln/>
          </p:spPr>
          <p:txBody>
            <a:bodyPr wrap="square" lIns="0" tIns="0" rIns="0" bIns="0" rtlCol="0" anchor="ctr"/>
            <a:lstStyle/>
            <a:p>
              <a:r>
                <a:rPr lang="en-US" sz="1600" b="1" dirty="0">
                  <a:solidFill>
                    <a:srgbClr val="F4F8FF"/>
                  </a:solidFill>
                </a:rPr>
                <a:t>xᵈ</a:t>
              </a:r>
              <a:r>
                <a:rPr lang="sl-SI" sz="1600" b="1" dirty="0">
                  <a:solidFill>
                    <a:srgbClr val="F4F8FF"/>
                  </a:solidFill>
                </a:rPr>
                <a:t> = 0        oz. iz MRF</a:t>
              </a:r>
              <a:endParaRPr lang="en-US" sz="1500" dirty="0"/>
            </a:p>
          </p:txBody>
        </p:sp>
        <p:sp>
          <p:nvSpPr>
            <p:cNvPr id="31" name="Text 7">
              <a:extLst>
                <a:ext uri="{FF2B5EF4-FFF2-40B4-BE49-F238E27FC236}">
                  <a16:creationId xmlns:a16="http://schemas.microsoft.com/office/drawing/2014/main" id="{7646A6FE-206F-20A1-BF6C-61ADABCC45F5}"/>
                </a:ext>
              </a:extLst>
            </p:cNvPr>
            <p:cNvSpPr/>
            <p:nvPr/>
          </p:nvSpPr>
          <p:spPr>
            <a:xfrm>
              <a:off x="109728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položaj robota</a:t>
              </a:r>
              <a:endParaRPr lang="en-US" sz="1050" dirty="0"/>
            </a:p>
          </p:txBody>
        </p:sp>
      </p:grpSp>
      <p:grpSp>
        <p:nvGrpSpPr>
          <p:cNvPr id="32" name="Skupina 31">
            <a:extLst>
              <a:ext uri="{FF2B5EF4-FFF2-40B4-BE49-F238E27FC236}">
                <a16:creationId xmlns:a16="http://schemas.microsoft.com/office/drawing/2014/main" id="{C2BB3732-1289-31DD-4162-064942732B31}"/>
              </a:ext>
            </a:extLst>
          </p:cNvPr>
          <p:cNvGrpSpPr/>
          <p:nvPr/>
        </p:nvGrpSpPr>
        <p:grpSpPr>
          <a:xfrm>
            <a:off x="2956560" y="3807235"/>
            <a:ext cx="2103120" cy="809245"/>
            <a:chOff x="3749040" y="2971800"/>
            <a:chExt cx="2103120" cy="960120"/>
          </a:xfrm>
        </p:grpSpPr>
        <p:sp>
          <p:nvSpPr>
            <p:cNvPr id="33" name="Shape 8">
              <a:extLst>
                <a:ext uri="{FF2B5EF4-FFF2-40B4-BE49-F238E27FC236}">
                  <a16:creationId xmlns:a16="http://schemas.microsoft.com/office/drawing/2014/main" id="{2E2C5722-942A-FEFF-3162-C936823A3FEF}"/>
                </a:ext>
              </a:extLst>
            </p:cNvPr>
            <p:cNvSpPr/>
            <p:nvPr/>
          </p:nvSpPr>
          <p:spPr>
            <a:xfrm>
              <a:off x="3749040" y="2971800"/>
              <a:ext cx="2103120" cy="960120"/>
            </a:xfrm>
            <a:prstGeom prst="roundRect">
              <a:avLst>
                <a:gd name="adj" fmla="val 7619"/>
              </a:avLst>
            </a:prstGeom>
            <a:solidFill>
              <a:srgbClr val="132238"/>
            </a:solidFill>
            <a:ln w="12700">
              <a:solidFill>
                <a:srgbClr val="4CE0A7"/>
              </a:solidFill>
              <a:prstDash val="solid"/>
            </a:ln>
          </p:spPr>
          <p:txBody>
            <a:bodyPr/>
            <a:lstStyle/>
            <a:p>
              <a:endParaRPr lang="en-US" dirty="0"/>
            </a:p>
          </p:txBody>
        </p:sp>
        <p:sp>
          <p:nvSpPr>
            <p:cNvPr id="34" name="Text 9">
              <a:extLst>
                <a:ext uri="{FF2B5EF4-FFF2-40B4-BE49-F238E27FC236}">
                  <a16:creationId xmlns:a16="http://schemas.microsoft.com/office/drawing/2014/main" id="{D20B45CA-B3BF-AD08-3CB9-75E7B7C7168A}"/>
                </a:ext>
              </a:extLst>
            </p:cNvPr>
            <p:cNvSpPr/>
            <p:nvPr/>
          </p:nvSpPr>
          <p:spPr>
            <a:xfrm>
              <a:off x="3886200" y="3081528"/>
              <a:ext cx="1828800" cy="228600"/>
            </a:xfrm>
            <a:prstGeom prst="rect">
              <a:avLst/>
            </a:prstGeom>
            <a:noFill/>
            <a:ln/>
          </p:spPr>
          <p:txBody>
            <a:bodyPr wrap="square" lIns="0" tIns="0" rIns="0" bIns="0" rtlCol="0" anchor="ctr"/>
            <a:lstStyle/>
            <a:p>
              <a:r>
                <a:rPr lang="en-US" sz="1600" b="1" dirty="0">
                  <a:solidFill>
                    <a:srgbClr val="F4F8FF"/>
                  </a:solidFill>
                </a:rPr>
                <a:t>vᵈ</a:t>
              </a:r>
              <a:r>
                <a:rPr lang="sl-SI" sz="1600" b="1" dirty="0">
                  <a:solidFill>
                    <a:srgbClr val="F4F8FF"/>
                  </a:solidFill>
                </a:rPr>
                <a:t> </a:t>
              </a:r>
              <a:r>
                <a:rPr lang="sl-SI" sz="1400" b="1" dirty="0">
                  <a:solidFill>
                    <a:srgbClr val="F4F8FF"/>
                  </a:solidFill>
                </a:rPr>
                <a:t>= 0       </a:t>
              </a:r>
              <a:r>
                <a:rPr lang="sl-SI" sz="1100" b="1" dirty="0">
                  <a:solidFill>
                    <a:srgbClr val="F4F8FF"/>
                  </a:solidFill>
                </a:rPr>
                <a:t>… robot miruje  </a:t>
              </a:r>
              <a:endParaRPr lang="en-US" sz="1500" dirty="0"/>
            </a:p>
          </p:txBody>
        </p:sp>
        <p:sp>
          <p:nvSpPr>
            <p:cNvPr id="35" name="Text 10">
              <a:extLst>
                <a:ext uri="{FF2B5EF4-FFF2-40B4-BE49-F238E27FC236}">
                  <a16:creationId xmlns:a16="http://schemas.microsoft.com/office/drawing/2014/main" id="{5A959134-9965-7183-E428-0A5DC1C7E95C}"/>
                </a:ext>
              </a:extLst>
            </p:cNvPr>
            <p:cNvSpPr/>
            <p:nvPr/>
          </p:nvSpPr>
          <p:spPr>
            <a:xfrm>
              <a:off x="388620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linearna hitrost</a:t>
              </a:r>
              <a:endParaRPr lang="en-US" sz="1050" dirty="0"/>
            </a:p>
          </p:txBody>
        </p:sp>
      </p:grpSp>
      <p:grpSp>
        <p:nvGrpSpPr>
          <p:cNvPr id="36" name="Skupina 35">
            <a:extLst>
              <a:ext uri="{FF2B5EF4-FFF2-40B4-BE49-F238E27FC236}">
                <a16:creationId xmlns:a16="http://schemas.microsoft.com/office/drawing/2014/main" id="{487BA2E1-77AB-0390-12B6-A8BC6C68CC14}"/>
              </a:ext>
            </a:extLst>
          </p:cNvPr>
          <p:cNvGrpSpPr/>
          <p:nvPr/>
        </p:nvGrpSpPr>
        <p:grpSpPr>
          <a:xfrm>
            <a:off x="2956560" y="4679931"/>
            <a:ext cx="2103120" cy="809245"/>
            <a:chOff x="6537960" y="2971800"/>
            <a:chExt cx="2103120" cy="960120"/>
          </a:xfrm>
        </p:grpSpPr>
        <p:sp>
          <p:nvSpPr>
            <p:cNvPr id="37" name="Shape 11">
              <a:extLst>
                <a:ext uri="{FF2B5EF4-FFF2-40B4-BE49-F238E27FC236}">
                  <a16:creationId xmlns:a16="http://schemas.microsoft.com/office/drawing/2014/main" id="{3FBFD2BC-061C-440C-4C01-E7CFE13400AF}"/>
                </a:ext>
              </a:extLst>
            </p:cNvPr>
            <p:cNvSpPr/>
            <p:nvPr/>
          </p:nvSpPr>
          <p:spPr>
            <a:xfrm>
              <a:off x="6537960" y="2971800"/>
              <a:ext cx="2103120" cy="960120"/>
            </a:xfrm>
            <a:prstGeom prst="roundRect">
              <a:avLst>
                <a:gd name="adj" fmla="val 7619"/>
              </a:avLst>
            </a:prstGeom>
            <a:solidFill>
              <a:srgbClr val="132238"/>
            </a:solidFill>
            <a:ln w="12700">
              <a:solidFill>
                <a:srgbClr val="FFB547"/>
              </a:solidFill>
              <a:prstDash val="solid"/>
            </a:ln>
          </p:spPr>
          <p:txBody>
            <a:bodyPr/>
            <a:lstStyle/>
            <a:p>
              <a:endParaRPr lang="en-US"/>
            </a:p>
          </p:txBody>
        </p:sp>
        <p:sp>
          <p:nvSpPr>
            <p:cNvPr id="38" name="Text 12">
              <a:extLst>
                <a:ext uri="{FF2B5EF4-FFF2-40B4-BE49-F238E27FC236}">
                  <a16:creationId xmlns:a16="http://schemas.microsoft.com/office/drawing/2014/main" id="{B1B6C562-66B8-EF41-4A89-AF6AE0BD0AF3}"/>
                </a:ext>
              </a:extLst>
            </p:cNvPr>
            <p:cNvSpPr/>
            <p:nvPr/>
          </p:nvSpPr>
          <p:spPr>
            <a:xfrm>
              <a:off x="6675120" y="3081528"/>
              <a:ext cx="1950720" cy="235615"/>
            </a:xfrm>
            <a:prstGeom prst="rect">
              <a:avLst/>
            </a:prstGeom>
            <a:noFill/>
            <a:ln/>
          </p:spPr>
          <p:txBody>
            <a:bodyPr wrap="square" lIns="0" tIns="0" rIns="0" bIns="0" rtlCol="0" anchor="ctr"/>
            <a:lstStyle/>
            <a:p>
              <a:r>
                <a:rPr lang="en-US" sz="1600" b="1" dirty="0">
                  <a:solidFill>
                    <a:srgbClr val="F4F8FF"/>
                  </a:solidFill>
                </a:rPr>
                <a:t>φᵈ</a:t>
              </a:r>
              <a:r>
                <a:rPr lang="sl-SI" sz="1600" b="1" dirty="0">
                  <a:solidFill>
                    <a:srgbClr val="F4F8FF"/>
                  </a:solidFill>
                </a:rPr>
                <a:t> </a:t>
              </a:r>
              <a:r>
                <a:rPr lang="sl-SI" sz="1400" b="1" dirty="0">
                  <a:solidFill>
                    <a:srgbClr val="F4F8FF"/>
                  </a:solidFill>
                </a:rPr>
                <a:t>= 0     </a:t>
              </a:r>
              <a:r>
                <a:rPr lang="sl-SI" sz="1200" b="1" dirty="0">
                  <a:solidFill>
                    <a:srgbClr val="F4F8FF"/>
                  </a:solidFill>
                </a:rPr>
                <a:t>… </a:t>
              </a:r>
              <a:r>
                <a:rPr lang="sl-SI" sz="1100" b="1" dirty="0">
                  <a:solidFill>
                    <a:srgbClr val="F4F8FF"/>
                  </a:solidFill>
                </a:rPr>
                <a:t>robot je pokonci </a:t>
              </a:r>
              <a:endParaRPr lang="en-US" sz="1500" dirty="0"/>
            </a:p>
          </p:txBody>
        </p:sp>
        <p:sp>
          <p:nvSpPr>
            <p:cNvPr id="39" name="Text 13">
              <a:extLst>
                <a:ext uri="{FF2B5EF4-FFF2-40B4-BE49-F238E27FC236}">
                  <a16:creationId xmlns:a16="http://schemas.microsoft.com/office/drawing/2014/main" id="{2A428994-A3BF-49A3-971D-8263E3CFA17F}"/>
                </a:ext>
              </a:extLst>
            </p:cNvPr>
            <p:cNvSpPr/>
            <p:nvPr/>
          </p:nvSpPr>
          <p:spPr>
            <a:xfrm>
              <a:off x="667512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nagib robota</a:t>
              </a:r>
              <a:endParaRPr lang="en-US" sz="1050" dirty="0"/>
            </a:p>
          </p:txBody>
        </p:sp>
      </p:grpSp>
      <p:grpSp>
        <p:nvGrpSpPr>
          <p:cNvPr id="40" name="Skupina 39">
            <a:extLst>
              <a:ext uri="{FF2B5EF4-FFF2-40B4-BE49-F238E27FC236}">
                <a16:creationId xmlns:a16="http://schemas.microsoft.com/office/drawing/2014/main" id="{401525E4-0B6B-DA79-8D34-98E52EB1FB71}"/>
              </a:ext>
            </a:extLst>
          </p:cNvPr>
          <p:cNvGrpSpPr/>
          <p:nvPr/>
        </p:nvGrpSpPr>
        <p:grpSpPr>
          <a:xfrm>
            <a:off x="2941320" y="5559258"/>
            <a:ext cx="2103120" cy="809244"/>
            <a:chOff x="9326880" y="2971800"/>
            <a:chExt cx="2103120" cy="960120"/>
          </a:xfrm>
        </p:grpSpPr>
        <p:sp>
          <p:nvSpPr>
            <p:cNvPr id="41" name="Shape 14">
              <a:extLst>
                <a:ext uri="{FF2B5EF4-FFF2-40B4-BE49-F238E27FC236}">
                  <a16:creationId xmlns:a16="http://schemas.microsoft.com/office/drawing/2014/main" id="{0F3395F3-75B1-4AE1-3A99-02E3F44BB5B3}"/>
                </a:ext>
              </a:extLst>
            </p:cNvPr>
            <p:cNvSpPr/>
            <p:nvPr/>
          </p:nvSpPr>
          <p:spPr>
            <a:xfrm>
              <a:off x="9326880" y="2971800"/>
              <a:ext cx="2103120" cy="960120"/>
            </a:xfrm>
            <a:prstGeom prst="roundRect">
              <a:avLst>
                <a:gd name="adj" fmla="val 7619"/>
              </a:avLst>
            </a:prstGeom>
            <a:solidFill>
              <a:srgbClr val="132238"/>
            </a:solidFill>
            <a:ln w="12700">
              <a:solidFill>
                <a:srgbClr val="2E6BFF"/>
              </a:solidFill>
              <a:prstDash val="solid"/>
            </a:ln>
          </p:spPr>
          <p:txBody>
            <a:bodyPr/>
            <a:lstStyle/>
            <a:p>
              <a:endParaRPr lang="en-US"/>
            </a:p>
          </p:txBody>
        </p:sp>
        <p:sp>
          <p:nvSpPr>
            <p:cNvPr id="42" name="Text 15">
              <a:extLst>
                <a:ext uri="{FF2B5EF4-FFF2-40B4-BE49-F238E27FC236}">
                  <a16:creationId xmlns:a16="http://schemas.microsoft.com/office/drawing/2014/main" id="{7F8F477C-53C9-4F91-7EE0-BFDB953D85F7}"/>
                </a:ext>
              </a:extLst>
            </p:cNvPr>
            <p:cNvSpPr/>
            <p:nvPr/>
          </p:nvSpPr>
          <p:spPr>
            <a:xfrm>
              <a:off x="9464040" y="3081528"/>
              <a:ext cx="1828800" cy="228600"/>
            </a:xfrm>
            <a:prstGeom prst="rect">
              <a:avLst/>
            </a:prstGeom>
            <a:noFill/>
            <a:ln/>
          </p:spPr>
          <p:txBody>
            <a:bodyPr wrap="square" lIns="0" tIns="0" rIns="0" bIns="0" rtlCol="0" anchor="ctr"/>
            <a:lstStyle/>
            <a:p>
              <a:r>
                <a:rPr lang="en-US" sz="1600" b="1" dirty="0">
                  <a:solidFill>
                    <a:srgbClr val="F4F8FF"/>
                  </a:solidFill>
                </a:rPr>
                <a:t>ωᵈ</a:t>
              </a:r>
              <a:r>
                <a:rPr lang="sl-SI" sz="1600" b="1" dirty="0">
                  <a:solidFill>
                    <a:srgbClr val="F4F8FF"/>
                  </a:solidFill>
                </a:rPr>
                <a:t> </a:t>
              </a:r>
              <a:r>
                <a:rPr lang="sl-SI" sz="1400" b="1" dirty="0">
                  <a:solidFill>
                    <a:srgbClr val="F4F8FF"/>
                  </a:solidFill>
                </a:rPr>
                <a:t>= 0     </a:t>
              </a:r>
              <a:r>
                <a:rPr lang="sl-SI" sz="1100" b="1" dirty="0">
                  <a:solidFill>
                    <a:srgbClr val="F4F8FF"/>
                  </a:solidFill>
                </a:rPr>
                <a:t>… robot ne niha </a:t>
              </a:r>
              <a:endParaRPr lang="en-US" sz="1500" dirty="0"/>
            </a:p>
          </p:txBody>
        </p:sp>
        <p:sp>
          <p:nvSpPr>
            <p:cNvPr id="43" name="Text 16">
              <a:extLst>
                <a:ext uri="{FF2B5EF4-FFF2-40B4-BE49-F238E27FC236}">
                  <a16:creationId xmlns:a16="http://schemas.microsoft.com/office/drawing/2014/main" id="{8CCA8EEB-C9EE-9AC9-E31F-F29231B37B89}"/>
                </a:ext>
              </a:extLst>
            </p:cNvPr>
            <p:cNvSpPr/>
            <p:nvPr/>
          </p:nvSpPr>
          <p:spPr>
            <a:xfrm>
              <a:off x="9464040" y="3392424"/>
              <a:ext cx="1828800" cy="457200"/>
            </a:xfrm>
            <a:prstGeom prst="rect">
              <a:avLst/>
            </a:prstGeom>
            <a:noFill/>
            <a:ln/>
          </p:spPr>
          <p:txBody>
            <a:bodyPr wrap="square" lIns="0" tIns="0" rIns="0" bIns="0" rtlCol="0" anchor="ctr">
              <a:normAutofit/>
            </a:bodyPr>
            <a:lstStyle/>
            <a:p>
              <a:pPr marL="0" indent="0">
                <a:buNone/>
              </a:pPr>
              <a:r>
                <a:rPr lang="en-US" sz="1050" dirty="0">
                  <a:solidFill>
                    <a:srgbClr val="A9B8CC"/>
                  </a:solidFill>
                </a:rPr>
                <a:t>kotna hitrost nagiba</a:t>
              </a:r>
              <a:endParaRPr lang="en-US" sz="1050" dirty="0"/>
            </a:p>
          </p:txBody>
        </p:sp>
      </p:grpSp>
      <p:sp>
        <p:nvSpPr>
          <p:cNvPr id="44" name="Text 18">
            <a:extLst>
              <a:ext uri="{FF2B5EF4-FFF2-40B4-BE49-F238E27FC236}">
                <a16:creationId xmlns:a16="http://schemas.microsoft.com/office/drawing/2014/main" id="{A658C260-B6C8-39EF-8101-4FAF8F16F662}"/>
              </a:ext>
            </a:extLst>
          </p:cNvPr>
          <p:cNvSpPr/>
          <p:nvPr/>
        </p:nvSpPr>
        <p:spPr>
          <a:xfrm>
            <a:off x="2956560" y="2576488"/>
            <a:ext cx="2103120" cy="228600"/>
          </a:xfrm>
          <a:prstGeom prst="rect">
            <a:avLst/>
          </a:prstGeom>
          <a:noFill/>
          <a:ln/>
        </p:spPr>
        <p:txBody>
          <a:bodyPr wrap="square" lIns="0" tIns="0" rIns="0" bIns="0" rtlCol="0" anchor="ctr"/>
          <a:lstStyle/>
          <a:p>
            <a:pPr marL="0" indent="0">
              <a:buNone/>
            </a:pPr>
            <a:r>
              <a:rPr lang="sl-SI" sz="1500" b="1" dirty="0">
                <a:solidFill>
                  <a:srgbClr val="F4F8FF"/>
                </a:solidFill>
              </a:rPr>
              <a:t>Referenčne  vrednosti:</a:t>
            </a:r>
            <a:endParaRPr lang="en-US" sz="1500" dirty="0"/>
          </a:p>
        </p:txBody>
      </p:sp>
      <p:grpSp>
        <p:nvGrpSpPr>
          <p:cNvPr id="45" name="Skupina 44">
            <a:extLst>
              <a:ext uri="{FF2B5EF4-FFF2-40B4-BE49-F238E27FC236}">
                <a16:creationId xmlns:a16="http://schemas.microsoft.com/office/drawing/2014/main" id="{BBF229C6-40CF-172E-7F25-1ACB86D8916A}"/>
              </a:ext>
            </a:extLst>
          </p:cNvPr>
          <p:cNvGrpSpPr/>
          <p:nvPr/>
        </p:nvGrpSpPr>
        <p:grpSpPr>
          <a:xfrm>
            <a:off x="7585649" y="2927454"/>
            <a:ext cx="2103119" cy="809245"/>
            <a:chOff x="960120" y="2971800"/>
            <a:chExt cx="2103120" cy="960120"/>
          </a:xfrm>
        </p:grpSpPr>
        <p:sp>
          <p:nvSpPr>
            <p:cNvPr id="46" name="Shape 5">
              <a:extLst>
                <a:ext uri="{FF2B5EF4-FFF2-40B4-BE49-F238E27FC236}">
                  <a16:creationId xmlns:a16="http://schemas.microsoft.com/office/drawing/2014/main" id="{330F911A-6A8A-FCC4-DB3A-E8FD9C6EA906}"/>
                </a:ext>
              </a:extLst>
            </p:cNvPr>
            <p:cNvSpPr/>
            <p:nvPr/>
          </p:nvSpPr>
          <p:spPr>
            <a:xfrm>
              <a:off x="960120" y="2971800"/>
              <a:ext cx="2103120" cy="960120"/>
            </a:xfrm>
            <a:prstGeom prst="roundRect">
              <a:avLst>
                <a:gd name="adj" fmla="val 7619"/>
              </a:avLst>
            </a:prstGeom>
            <a:solidFill>
              <a:srgbClr val="132238"/>
            </a:solidFill>
            <a:ln w="12700">
              <a:solidFill>
                <a:srgbClr val="41D9FF"/>
              </a:solidFill>
              <a:prstDash val="solid"/>
            </a:ln>
          </p:spPr>
          <p:txBody>
            <a:bodyPr/>
            <a:lstStyle/>
            <a:p>
              <a:endParaRPr lang="en-US" dirty="0"/>
            </a:p>
          </p:txBody>
        </p:sp>
        <p:sp>
          <p:nvSpPr>
            <p:cNvPr id="47" name="Text 6">
              <a:extLst>
                <a:ext uri="{FF2B5EF4-FFF2-40B4-BE49-F238E27FC236}">
                  <a16:creationId xmlns:a16="http://schemas.microsoft.com/office/drawing/2014/main" id="{F0BFE4C2-CB4A-960B-3C74-FCDDC1CAF7C4}"/>
                </a:ext>
              </a:extLst>
            </p:cNvPr>
            <p:cNvSpPr/>
            <p:nvPr/>
          </p:nvSpPr>
          <p:spPr>
            <a:xfrm>
              <a:off x="1097280" y="3310127"/>
              <a:ext cx="1828800" cy="228600"/>
            </a:xfrm>
            <a:prstGeom prst="rect">
              <a:avLst/>
            </a:prstGeom>
            <a:noFill/>
            <a:ln/>
          </p:spPr>
          <p:txBody>
            <a:bodyPr wrap="square" lIns="0" tIns="0" rIns="0" bIns="0" rtlCol="0" anchor="ctr"/>
            <a:lstStyle/>
            <a:p>
              <a:r>
                <a:rPr lang="sl-SI" sz="1600" b="1" dirty="0" err="1">
                  <a:solidFill>
                    <a:srgbClr val="F4F8FF"/>
                  </a:solidFill>
                </a:rPr>
                <a:t>Kt</a:t>
              </a:r>
              <a:r>
                <a:rPr lang="sl-SI" sz="1600" b="1" dirty="0">
                  <a:solidFill>
                    <a:srgbClr val="F4F8FF"/>
                  </a:solidFill>
                </a:rPr>
                <a:t> ​=0.75    [</a:t>
              </a:r>
              <a:r>
                <a:rPr lang="sl-SI" sz="1600" b="1" dirty="0" err="1">
                  <a:solidFill>
                    <a:srgbClr val="F4F8FF"/>
                  </a:solidFill>
                </a:rPr>
                <a:t>Nm</a:t>
              </a:r>
              <a:r>
                <a:rPr lang="sl-SI" sz="1600" b="1" dirty="0">
                  <a:solidFill>
                    <a:srgbClr val="F4F8FF"/>
                  </a:solidFill>
                </a:rPr>
                <a:t>/A]</a:t>
              </a:r>
              <a:endParaRPr lang="en-US" sz="1500" dirty="0"/>
            </a:p>
          </p:txBody>
        </p:sp>
      </p:grpSp>
      <p:sp>
        <p:nvSpPr>
          <p:cNvPr id="49" name="Text 18">
            <a:extLst>
              <a:ext uri="{FF2B5EF4-FFF2-40B4-BE49-F238E27FC236}">
                <a16:creationId xmlns:a16="http://schemas.microsoft.com/office/drawing/2014/main" id="{A0FA8CFE-BA5B-8B49-6A70-1E0B789DC0C7}"/>
              </a:ext>
            </a:extLst>
          </p:cNvPr>
          <p:cNvSpPr/>
          <p:nvPr/>
        </p:nvSpPr>
        <p:spPr>
          <a:xfrm>
            <a:off x="7585650" y="2586876"/>
            <a:ext cx="1839704" cy="228600"/>
          </a:xfrm>
          <a:prstGeom prst="rect">
            <a:avLst/>
          </a:prstGeom>
          <a:noFill/>
          <a:ln/>
        </p:spPr>
        <p:txBody>
          <a:bodyPr wrap="square" lIns="0" tIns="0" rIns="0" bIns="0" rtlCol="0" anchor="ctr"/>
          <a:lstStyle/>
          <a:p>
            <a:pPr marL="0" indent="0">
              <a:buNone/>
            </a:pPr>
            <a:r>
              <a:rPr lang="sl-SI" sz="1500" b="1" dirty="0">
                <a:solidFill>
                  <a:srgbClr val="F4F8FF"/>
                </a:solidFill>
              </a:rPr>
              <a:t>Konstanta motorja:</a:t>
            </a:r>
            <a:endParaRPr lang="en-US" sz="1500" dirty="0"/>
          </a:p>
        </p:txBody>
      </p:sp>
      <p:grpSp>
        <p:nvGrpSpPr>
          <p:cNvPr id="50" name="Skupina 49">
            <a:extLst>
              <a:ext uri="{FF2B5EF4-FFF2-40B4-BE49-F238E27FC236}">
                <a16:creationId xmlns:a16="http://schemas.microsoft.com/office/drawing/2014/main" id="{16900325-5765-E117-AA82-E92D0ED3419E}"/>
              </a:ext>
            </a:extLst>
          </p:cNvPr>
          <p:cNvGrpSpPr/>
          <p:nvPr/>
        </p:nvGrpSpPr>
        <p:grpSpPr>
          <a:xfrm>
            <a:off x="9921240" y="2927454"/>
            <a:ext cx="1630680" cy="809245"/>
            <a:chOff x="960120" y="2971800"/>
            <a:chExt cx="2103120" cy="960120"/>
          </a:xfrm>
        </p:grpSpPr>
        <p:sp>
          <p:nvSpPr>
            <p:cNvPr id="51" name="Shape 5">
              <a:extLst>
                <a:ext uri="{FF2B5EF4-FFF2-40B4-BE49-F238E27FC236}">
                  <a16:creationId xmlns:a16="http://schemas.microsoft.com/office/drawing/2014/main" id="{FDDCF12A-F513-03C7-CF4C-B63624C18E44}"/>
                </a:ext>
              </a:extLst>
            </p:cNvPr>
            <p:cNvSpPr/>
            <p:nvPr/>
          </p:nvSpPr>
          <p:spPr>
            <a:xfrm>
              <a:off x="960120" y="2971800"/>
              <a:ext cx="2103120" cy="960120"/>
            </a:xfrm>
            <a:prstGeom prst="roundRect">
              <a:avLst>
                <a:gd name="adj" fmla="val 7619"/>
              </a:avLst>
            </a:prstGeom>
            <a:solidFill>
              <a:srgbClr val="132238"/>
            </a:solidFill>
            <a:ln w="12700">
              <a:solidFill>
                <a:srgbClr val="41D9FF"/>
              </a:solidFill>
              <a:prstDash val="solid"/>
            </a:ln>
          </p:spPr>
          <p:txBody>
            <a:bodyPr/>
            <a:lstStyle/>
            <a:p>
              <a:endParaRPr lang="en-US" dirty="0"/>
            </a:p>
          </p:txBody>
        </p:sp>
        <p:sp>
          <p:nvSpPr>
            <p:cNvPr id="52" name="Text 6">
              <a:extLst>
                <a:ext uri="{FF2B5EF4-FFF2-40B4-BE49-F238E27FC236}">
                  <a16:creationId xmlns:a16="http://schemas.microsoft.com/office/drawing/2014/main" id="{4A0D7102-5492-E976-40B4-A15955882D4A}"/>
                </a:ext>
              </a:extLst>
            </p:cNvPr>
            <p:cNvSpPr/>
            <p:nvPr/>
          </p:nvSpPr>
          <p:spPr>
            <a:xfrm>
              <a:off x="1097280" y="3310127"/>
              <a:ext cx="1828800" cy="228600"/>
            </a:xfrm>
            <a:prstGeom prst="rect">
              <a:avLst/>
            </a:prstGeom>
            <a:noFill/>
            <a:ln/>
          </p:spPr>
          <p:txBody>
            <a:bodyPr wrap="square" lIns="0" tIns="0" rIns="0" bIns="0" rtlCol="0" anchor="ctr"/>
            <a:lstStyle/>
            <a:p>
              <a:endParaRPr lang="en-US" sz="1500" dirty="0"/>
            </a:p>
          </p:txBody>
        </p:sp>
      </p:grpSp>
      <p:sp>
        <p:nvSpPr>
          <p:cNvPr id="53" name="Text 18">
            <a:extLst>
              <a:ext uri="{FF2B5EF4-FFF2-40B4-BE49-F238E27FC236}">
                <a16:creationId xmlns:a16="http://schemas.microsoft.com/office/drawing/2014/main" id="{A76D3359-C314-57DE-5860-A7EC5E1BD87A}"/>
              </a:ext>
            </a:extLst>
          </p:cNvPr>
          <p:cNvSpPr/>
          <p:nvPr/>
        </p:nvSpPr>
        <p:spPr>
          <a:xfrm>
            <a:off x="9966960" y="2579354"/>
            <a:ext cx="1366954" cy="228600"/>
          </a:xfrm>
          <a:prstGeom prst="rect">
            <a:avLst/>
          </a:prstGeom>
          <a:noFill/>
          <a:ln/>
        </p:spPr>
        <p:txBody>
          <a:bodyPr wrap="square" lIns="0" tIns="0" rIns="0" bIns="0" rtlCol="0" anchor="ctr"/>
          <a:lstStyle/>
          <a:p>
            <a:pPr marL="0" indent="0">
              <a:buNone/>
            </a:pPr>
            <a:r>
              <a:rPr lang="sl-SI" sz="1500" b="1" dirty="0">
                <a:solidFill>
                  <a:srgbClr val="F4F8FF"/>
                </a:solidFill>
              </a:rPr>
              <a:t>Izračun toka:</a:t>
            </a:r>
            <a:endParaRPr lang="en-US" sz="1500" dirty="0"/>
          </a:p>
        </p:txBody>
      </p:sp>
      <p:sp>
        <p:nvSpPr>
          <p:cNvPr id="58" name="Text 18">
            <a:extLst>
              <a:ext uri="{FF2B5EF4-FFF2-40B4-BE49-F238E27FC236}">
                <a16:creationId xmlns:a16="http://schemas.microsoft.com/office/drawing/2014/main" id="{BCBB4AFE-81AA-39AD-952F-FF5DCE808109}"/>
              </a:ext>
            </a:extLst>
          </p:cNvPr>
          <p:cNvSpPr/>
          <p:nvPr/>
        </p:nvSpPr>
        <p:spPr>
          <a:xfrm>
            <a:off x="1127760" y="1645920"/>
            <a:ext cx="2103120" cy="228600"/>
          </a:xfrm>
          <a:prstGeom prst="rect">
            <a:avLst/>
          </a:prstGeom>
          <a:noFill/>
          <a:ln/>
        </p:spPr>
        <p:txBody>
          <a:bodyPr wrap="square" lIns="0" tIns="0" rIns="0" bIns="0" rtlCol="0" anchor="ctr"/>
          <a:lstStyle/>
          <a:p>
            <a:pPr marL="0" indent="0">
              <a:buNone/>
            </a:pPr>
            <a:r>
              <a:rPr lang="sl-SI" sz="1500" b="1" dirty="0">
                <a:solidFill>
                  <a:srgbClr val="F4F8FF"/>
                </a:solidFill>
              </a:rPr>
              <a:t>Izračun momenta:</a:t>
            </a:r>
            <a:endParaRPr lang="en-US" sz="1500" dirty="0"/>
          </a:p>
        </p:txBody>
      </p:sp>
      <p:sp>
        <p:nvSpPr>
          <p:cNvPr id="61" name="Text 18">
            <a:extLst>
              <a:ext uri="{FF2B5EF4-FFF2-40B4-BE49-F238E27FC236}">
                <a16:creationId xmlns:a16="http://schemas.microsoft.com/office/drawing/2014/main" id="{38F1B977-C65F-4498-F123-C364D355666C}"/>
              </a:ext>
            </a:extLst>
          </p:cNvPr>
          <p:cNvSpPr/>
          <p:nvPr/>
        </p:nvSpPr>
        <p:spPr>
          <a:xfrm>
            <a:off x="10058400" y="3201644"/>
            <a:ext cx="1366954" cy="228600"/>
          </a:xfrm>
          <a:prstGeom prst="rect">
            <a:avLst/>
          </a:prstGeom>
          <a:noFill/>
          <a:ln/>
        </p:spPr>
        <p:txBody>
          <a:bodyPr wrap="square" lIns="0" tIns="0" rIns="0" bIns="0" rtlCol="0" anchor="ctr"/>
          <a:lstStyle/>
          <a:p>
            <a:r>
              <a:rPr lang="sl-SI" sz="1500" b="1" dirty="0">
                <a:solidFill>
                  <a:srgbClr val="F4F8FF"/>
                </a:solidFill>
              </a:rPr>
              <a:t>I = </a:t>
            </a:r>
            <a:r>
              <a:rPr lang="sl-SI" sz="1600" b="1" dirty="0">
                <a:solidFill>
                  <a:schemeClr val="bg1"/>
                </a:solidFill>
              </a:rPr>
              <a:t>u / </a:t>
            </a:r>
            <a:r>
              <a:rPr lang="sl-SI" sz="1600" b="1" dirty="0" err="1">
                <a:solidFill>
                  <a:schemeClr val="bg1"/>
                </a:solidFill>
              </a:rPr>
              <a:t>Kt</a:t>
            </a:r>
            <a:r>
              <a:rPr lang="sl-SI" sz="1600" b="1" dirty="0">
                <a:solidFill>
                  <a:schemeClr val="bg1"/>
                </a:solidFill>
              </a:rPr>
              <a:t> ​   [A] </a:t>
            </a:r>
            <a:r>
              <a:rPr lang="el-GR" sz="1600" b="1" dirty="0"/>
              <a:t>​</a:t>
            </a:r>
            <a:endParaRPr lang="en-US" sz="1500" b="1" dirty="0"/>
          </a:p>
        </p:txBody>
      </p:sp>
      <p:sp>
        <p:nvSpPr>
          <p:cNvPr id="63" name="PoljeZBesedilom 62">
            <a:extLst>
              <a:ext uri="{FF2B5EF4-FFF2-40B4-BE49-F238E27FC236}">
                <a16:creationId xmlns:a16="http://schemas.microsoft.com/office/drawing/2014/main" id="{37D78A3F-4860-D5F9-1162-D70A26C76D7D}"/>
              </a:ext>
            </a:extLst>
          </p:cNvPr>
          <p:cNvSpPr txBox="1"/>
          <p:nvPr/>
        </p:nvSpPr>
        <p:spPr>
          <a:xfrm>
            <a:off x="7554838" y="5097593"/>
            <a:ext cx="3963112" cy="923330"/>
          </a:xfrm>
          <a:prstGeom prst="rect">
            <a:avLst/>
          </a:prstGeom>
          <a:noFill/>
        </p:spPr>
        <p:txBody>
          <a:bodyPr wrap="square">
            <a:spAutoFit/>
          </a:bodyPr>
          <a:lstStyle/>
          <a:p>
            <a:pPr marL="285750" indent="-285750">
              <a:buFontTx/>
              <a:buChar char="-"/>
            </a:pPr>
            <a:r>
              <a:rPr lang="sl-SI" b="1" dirty="0">
                <a:solidFill>
                  <a:srgbClr val="F4F8FF"/>
                </a:solidFill>
              </a:rPr>
              <a:t>Postopek implementacije</a:t>
            </a:r>
          </a:p>
          <a:p>
            <a:pPr marL="285750" indent="-285750">
              <a:buFontTx/>
              <a:buChar char="-"/>
            </a:pPr>
            <a:r>
              <a:rPr lang="sl-SI" sz="1800" b="1" dirty="0">
                <a:solidFill>
                  <a:srgbClr val="F4F8FF"/>
                </a:solidFill>
              </a:rPr>
              <a:t>Težava vračanja v pozicijo</a:t>
            </a:r>
          </a:p>
          <a:p>
            <a:pPr marL="285750" indent="-285750">
              <a:buFontTx/>
              <a:buChar char="-"/>
            </a:pPr>
            <a:r>
              <a:rPr lang="sl-SI" sz="1800" b="1" dirty="0">
                <a:solidFill>
                  <a:srgbClr val="F4F8FF"/>
                </a:solidFill>
              </a:rPr>
              <a:t>Zato dodan 2. regulator</a:t>
            </a:r>
          </a:p>
        </p:txBody>
      </p:sp>
      <p:grpSp>
        <p:nvGrpSpPr>
          <p:cNvPr id="68" name="Skupina 67">
            <a:extLst>
              <a:ext uri="{FF2B5EF4-FFF2-40B4-BE49-F238E27FC236}">
                <a16:creationId xmlns:a16="http://schemas.microsoft.com/office/drawing/2014/main" id="{A88DC772-7254-768F-2172-8691A7359483}"/>
              </a:ext>
            </a:extLst>
          </p:cNvPr>
          <p:cNvGrpSpPr/>
          <p:nvPr/>
        </p:nvGrpSpPr>
        <p:grpSpPr>
          <a:xfrm>
            <a:off x="7593267" y="4405457"/>
            <a:ext cx="4191001" cy="477839"/>
            <a:chOff x="1000240" y="2944365"/>
            <a:chExt cx="2103120" cy="960120"/>
          </a:xfrm>
        </p:grpSpPr>
        <p:sp>
          <p:nvSpPr>
            <p:cNvPr id="69" name="Shape 5">
              <a:extLst>
                <a:ext uri="{FF2B5EF4-FFF2-40B4-BE49-F238E27FC236}">
                  <a16:creationId xmlns:a16="http://schemas.microsoft.com/office/drawing/2014/main" id="{42F3A434-BB42-7693-825E-633DC4C1385C}"/>
                </a:ext>
              </a:extLst>
            </p:cNvPr>
            <p:cNvSpPr/>
            <p:nvPr/>
          </p:nvSpPr>
          <p:spPr>
            <a:xfrm>
              <a:off x="1000240" y="2944365"/>
              <a:ext cx="2103120" cy="960120"/>
            </a:xfrm>
            <a:prstGeom prst="roundRect">
              <a:avLst>
                <a:gd name="adj" fmla="val 7619"/>
              </a:avLst>
            </a:prstGeom>
            <a:solidFill>
              <a:srgbClr val="132238"/>
            </a:solidFill>
            <a:ln w="12700">
              <a:solidFill>
                <a:srgbClr val="41D9FF"/>
              </a:solidFill>
              <a:prstDash val="solid"/>
            </a:ln>
          </p:spPr>
          <p:txBody>
            <a:bodyPr/>
            <a:lstStyle/>
            <a:p>
              <a:r>
                <a:rPr lang="en-US" sz="1400" dirty="0" err="1">
                  <a:solidFill>
                    <a:schemeClr val="bg1"/>
                  </a:solidFill>
                </a:rPr>
                <a:t>sendCurrentCommand</a:t>
              </a:r>
              <a:r>
                <a:rPr lang="en-US" sz="1400" dirty="0">
                  <a:solidFill>
                    <a:schemeClr val="bg1"/>
                  </a:solidFill>
                </a:rPr>
                <a:t>(</a:t>
              </a:r>
              <a:r>
                <a:rPr lang="en-US" sz="1400" dirty="0" err="1">
                  <a:solidFill>
                    <a:schemeClr val="bg1"/>
                  </a:solidFill>
                </a:rPr>
                <a:t>motor_id</a:t>
              </a:r>
              <a:r>
                <a:rPr lang="en-US" sz="1400" dirty="0">
                  <a:solidFill>
                    <a:schemeClr val="bg1"/>
                  </a:solidFill>
                </a:rPr>
                <a:t>, </a:t>
              </a:r>
              <a:r>
                <a:rPr lang="sl-SI" sz="1400" dirty="0" err="1">
                  <a:solidFill>
                    <a:schemeClr val="bg1"/>
                  </a:solidFill>
                </a:rPr>
                <a:t>izracunan_tok</a:t>
              </a:r>
              <a:r>
                <a:rPr lang="en-US" sz="1400" dirty="0">
                  <a:solidFill>
                    <a:schemeClr val="bg1"/>
                  </a:solidFill>
                </a:rPr>
                <a:t>);</a:t>
              </a:r>
            </a:p>
            <a:p>
              <a:endParaRPr lang="en-US" dirty="0"/>
            </a:p>
          </p:txBody>
        </p:sp>
        <p:sp>
          <p:nvSpPr>
            <p:cNvPr id="70" name="Text 6">
              <a:extLst>
                <a:ext uri="{FF2B5EF4-FFF2-40B4-BE49-F238E27FC236}">
                  <a16:creationId xmlns:a16="http://schemas.microsoft.com/office/drawing/2014/main" id="{EC70DE67-1992-E8A0-FD37-C70326CCC36D}"/>
                </a:ext>
              </a:extLst>
            </p:cNvPr>
            <p:cNvSpPr/>
            <p:nvPr/>
          </p:nvSpPr>
          <p:spPr>
            <a:xfrm>
              <a:off x="1097280" y="3310127"/>
              <a:ext cx="1828800" cy="228600"/>
            </a:xfrm>
            <a:prstGeom prst="rect">
              <a:avLst/>
            </a:prstGeom>
            <a:noFill/>
            <a:ln/>
          </p:spPr>
          <p:txBody>
            <a:bodyPr wrap="square" lIns="0" tIns="0" rIns="0" bIns="0" rtlCol="0" anchor="ctr"/>
            <a:lstStyle/>
            <a:p>
              <a:endParaRPr lang="en-US" sz="1500" dirty="0"/>
            </a:p>
          </p:txBody>
        </p:sp>
      </p:grpSp>
      <p:sp>
        <p:nvSpPr>
          <p:cNvPr id="71" name="Text 18">
            <a:extLst>
              <a:ext uri="{FF2B5EF4-FFF2-40B4-BE49-F238E27FC236}">
                <a16:creationId xmlns:a16="http://schemas.microsoft.com/office/drawing/2014/main" id="{91363FD0-1C18-8873-8791-6D06E2A090DC}"/>
              </a:ext>
            </a:extLst>
          </p:cNvPr>
          <p:cNvSpPr/>
          <p:nvPr/>
        </p:nvSpPr>
        <p:spPr>
          <a:xfrm>
            <a:off x="7593267" y="4071011"/>
            <a:ext cx="2660127" cy="228600"/>
          </a:xfrm>
          <a:prstGeom prst="rect">
            <a:avLst/>
          </a:prstGeom>
          <a:noFill/>
          <a:ln/>
        </p:spPr>
        <p:txBody>
          <a:bodyPr wrap="square" lIns="0" tIns="0" rIns="0" bIns="0" rtlCol="0" anchor="ctr"/>
          <a:lstStyle/>
          <a:p>
            <a:pPr marL="0" indent="0">
              <a:buNone/>
            </a:pPr>
            <a:r>
              <a:rPr lang="sl-SI" sz="1500" b="1" dirty="0">
                <a:solidFill>
                  <a:srgbClr val="F4F8FF"/>
                </a:solidFill>
              </a:rPr>
              <a:t>Pošiljanje toka na motor:</a:t>
            </a:r>
            <a:endParaRPr lang="en-US" sz="1500" dirty="0"/>
          </a:p>
        </p:txBody>
      </p:sp>
      <p:grpSp>
        <p:nvGrpSpPr>
          <p:cNvPr id="78" name="Skupina 77">
            <a:extLst>
              <a:ext uri="{FF2B5EF4-FFF2-40B4-BE49-F238E27FC236}">
                <a16:creationId xmlns:a16="http://schemas.microsoft.com/office/drawing/2014/main" id="{EF79BD14-0EE2-E259-32EC-0EF4FA3332F8}"/>
              </a:ext>
            </a:extLst>
          </p:cNvPr>
          <p:cNvGrpSpPr/>
          <p:nvPr/>
        </p:nvGrpSpPr>
        <p:grpSpPr>
          <a:xfrm>
            <a:off x="5255020" y="2777269"/>
            <a:ext cx="2299818" cy="4942606"/>
            <a:chOff x="10075062" y="-746023"/>
            <a:chExt cx="2299818" cy="4942606"/>
          </a:xfrm>
        </p:grpSpPr>
        <p:grpSp>
          <p:nvGrpSpPr>
            <p:cNvPr id="72" name="Skupina 71">
              <a:extLst>
                <a:ext uri="{FF2B5EF4-FFF2-40B4-BE49-F238E27FC236}">
                  <a16:creationId xmlns:a16="http://schemas.microsoft.com/office/drawing/2014/main" id="{57F76EB6-6382-B6CF-CCFA-467719F6C2F3}"/>
                </a:ext>
              </a:extLst>
            </p:cNvPr>
            <p:cNvGrpSpPr/>
            <p:nvPr/>
          </p:nvGrpSpPr>
          <p:grpSpPr>
            <a:xfrm>
              <a:off x="10075062" y="-606226"/>
              <a:ext cx="2103120" cy="4802809"/>
              <a:chOff x="1097280" y="1360919"/>
              <a:chExt cx="2103120" cy="2177808"/>
            </a:xfrm>
          </p:grpSpPr>
          <p:sp>
            <p:nvSpPr>
              <p:cNvPr id="73" name="Shape 5">
                <a:extLst>
                  <a:ext uri="{FF2B5EF4-FFF2-40B4-BE49-F238E27FC236}">
                    <a16:creationId xmlns:a16="http://schemas.microsoft.com/office/drawing/2014/main" id="{D500E58C-4E4A-AFCA-F097-9372156BA277}"/>
                  </a:ext>
                </a:extLst>
              </p:cNvPr>
              <p:cNvSpPr/>
              <p:nvPr/>
            </p:nvSpPr>
            <p:spPr>
              <a:xfrm>
                <a:off x="1097280" y="1360919"/>
                <a:ext cx="2103120" cy="960120"/>
              </a:xfrm>
              <a:prstGeom prst="roundRect">
                <a:avLst>
                  <a:gd name="adj" fmla="val 7619"/>
                </a:avLst>
              </a:prstGeom>
              <a:solidFill>
                <a:srgbClr val="132238"/>
              </a:solidFill>
              <a:ln w="12700">
                <a:solidFill>
                  <a:srgbClr val="41D9FF"/>
                </a:solidFill>
                <a:prstDash val="solid"/>
              </a:ln>
            </p:spPr>
            <p:txBody>
              <a:bodyPr/>
              <a:lstStyle/>
              <a:p>
                <a:endParaRPr lang="en-US" dirty="0"/>
              </a:p>
            </p:txBody>
          </p:sp>
          <p:sp>
            <p:nvSpPr>
              <p:cNvPr id="74" name="Text 6">
                <a:extLst>
                  <a:ext uri="{FF2B5EF4-FFF2-40B4-BE49-F238E27FC236}">
                    <a16:creationId xmlns:a16="http://schemas.microsoft.com/office/drawing/2014/main" id="{BB4C8992-F48E-3362-B2FC-E3AE5B76EAC4}"/>
                  </a:ext>
                </a:extLst>
              </p:cNvPr>
              <p:cNvSpPr/>
              <p:nvPr/>
            </p:nvSpPr>
            <p:spPr>
              <a:xfrm>
                <a:off x="1097280" y="3310127"/>
                <a:ext cx="1828800" cy="228600"/>
              </a:xfrm>
              <a:prstGeom prst="rect">
                <a:avLst/>
              </a:prstGeom>
              <a:noFill/>
              <a:ln/>
            </p:spPr>
            <p:txBody>
              <a:bodyPr wrap="square" lIns="0" tIns="0" rIns="0" bIns="0" rtlCol="0" anchor="ctr"/>
              <a:lstStyle/>
              <a:p>
                <a:endParaRPr lang="en-US" sz="1500" dirty="0"/>
              </a:p>
            </p:txBody>
          </p:sp>
        </p:grpSp>
        <p:sp>
          <p:nvSpPr>
            <p:cNvPr id="75" name="Text 18">
              <a:extLst>
                <a:ext uri="{FF2B5EF4-FFF2-40B4-BE49-F238E27FC236}">
                  <a16:creationId xmlns:a16="http://schemas.microsoft.com/office/drawing/2014/main" id="{1D8127B3-6945-1C53-D6C0-922F09E8FD9F}"/>
                </a:ext>
              </a:extLst>
            </p:cNvPr>
            <p:cNvSpPr/>
            <p:nvPr/>
          </p:nvSpPr>
          <p:spPr>
            <a:xfrm>
              <a:off x="10271760" y="-746023"/>
              <a:ext cx="2103120" cy="2549707"/>
            </a:xfrm>
            <a:prstGeom prst="rect">
              <a:avLst/>
            </a:prstGeom>
            <a:noFill/>
            <a:ln/>
          </p:spPr>
          <p:txBody>
            <a:bodyPr wrap="square" lIns="0" tIns="0" rIns="0" bIns="0" rtlCol="0" anchor="ctr"/>
            <a:lstStyle/>
            <a:p>
              <a:pPr marL="0" indent="0">
                <a:buNone/>
              </a:pPr>
              <a:r>
                <a:rPr lang="sl-SI" sz="1500" b="1" dirty="0" err="1">
                  <a:solidFill>
                    <a:srgbClr val="F4F8FF"/>
                  </a:solidFill>
                </a:rPr>
                <a:t>Senzor_offset</a:t>
              </a:r>
              <a:r>
                <a:rPr lang="sl-SI" sz="1500" b="1" dirty="0">
                  <a:solidFill>
                    <a:srgbClr val="F4F8FF"/>
                  </a:solidFill>
                </a:rPr>
                <a:t> = 0.03</a:t>
              </a:r>
            </a:p>
            <a:p>
              <a:pPr marL="0" indent="0">
                <a:buNone/>
              </a:pPr>
              <a:endParaRPr lang="sl-SI" sz="1500" b="1" dirty="0">
                <a:solidFill>
                  <a:srgbClr val="F4F8FF"/>
                </a:solidFill>
              </a:endParaRPr>
            </a:p>
            <a:p>
              <a:pPr marL="0" indent="0">
                <a:buNone/>
              </a:pPr>
              <a:r>
                <a:rPr lang="sl-SI" sz="1500" b="1" dirty="0">
                  <a:solidFill>
                    <a:srgbClr val="F4F8FF"/>
                  </a:solidFill>
                </a:rPr>
                <a:t>K = 0.2</a:t>
              </a:r>
            </a:p>
            <a:p>
              <a:r>
                <a:rPr lang="sl-SI" sz="1500" b="1" dirty="0">
                  <a:solidFill>
                    <a:srgbClr val="F4F8FF"/>
                  </a:solidFill>
                </a:rPr>
                <a:t>K1 = 23</a:t>
              </a:r>
            </a:p>
            <a:p>
              <a:r>
                <a:rPr lang="sl-SI" sz="1500" b="1" dirty="0">
                  <a:solidFill>
                    <a:srgbClr val="F4F8FF"/>
                  </a:solidFill>
                </a:rPr>
                <a:t>K2 = 16 </a:t>
              </a:r>
            </a:p>
            <a:p>
              <a:r>
                <a:rPr lang="sl-SI" sz="1500" b="1" dirty="0">
                  <a:solidFill>
                    <a:srgbClr val="F4F8FF"/>
                  </a:solidFill>
                </a:rPr>
                <a:t>K3 =  77</a:t>
              </a:r>
            </a:p>
            <a:p>
              <a:r>
                <a:rPr lang="sl-SI" sz="1500" b="1" dirty="0">
                  <a:solidFill>
                    <a:srgbClr val="F4F8FF"/>
                  </a:solidFill>
                </a:rPr>
                <a:t>K4 = 3 </a:t>
              </a:r>
            </a:p>
            <a:p>
              <a:pPr marL="0" indent="0">
                <a:buNone/>
              </a:pPr>
              <a:endParaRPr lang="en-US" sz="1500" dirty="0"/>
            </a:p>
          </p:txBody>
        </p:sp>
      </p:grpSp>
      <p:sp>
        <p:nvSpPr>
          <p:cNvPr id="79" name="Text 18">
            <a:extLst>
              <a:ext uri="{FF2B5EF4-FFF2-40B4-BE49-F238E27FC236}">
                <a16:creationId xmlns:a16="http://schemas.microsoft.com/office/drawing/2014/main" id="{4ECF6A8D-56BC-384D-0086-C1AB9407B699}"/>
              </a:ext>
            </a:extLst>
          </p:cNvPr>
          <p:cNvSpPr/>
          <p:nvPr/>
        </p:nvSpPr>
        <p:spPr>
          <a:xfrm>
            <a:off x="5255020" y="2579354"/>
            <a:ext cx="2103120" cy="228600"/>
          </a:xfrm>
          <a:prstGeom prst="rect">
            <a:avLst/>
          </a:prstGeom>
          <a:noFill/>
          <a:ln/>
        </p:spPr>
        <p:txBody>
          <a:bodyPr wrap="square" lIns="0" tIns="0" rIns="0" bIns="0" rtlCol="0" anchor="ctr"/>
          <a:lstStyle/>
          <a:p>
            <a:pPr marL="0" indent="0">
              <a:buNone/>
            </a:pPr>
            <a:r>
              <a:rPr lang="sl-SI" sz="1500" b="1" dirty="0">
                <a:solidFill>
                  <a:srgbClr val="F4F8FF"/>
                </a:solidFill>
              </a:rPr>
              <a:t>Vrednosti parametrov:</a:t>
            </a:r>
            <a:endParaRPr lang="en-US" sz="1500" dirty="0"/>
          </a:p>
        </p:txBody>
      </p:sp>
    </p:spTree>
    <p:extLst>
      <p:ext uri="{BB962C8B-B14F-4D97-AF65-F5344CB8AC3E}">
        <p14:creationId xmlns:p14="http://schemas.microsoft.com/office/powerpoint/2010/main" val="2670974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4" name="Shape 2"/>
          <p:cNvSpPr/>
          <p:nvPr/>
        </p:nvSpPr>
        <p:spPr>
          <a:xfrm>
            <a:off x="502920" y="1078992"/>
            <a:ext cx="11201400" cy="0"/>
          </a:xfrm>
          <a:prstGeom prst="line">
            <a:avLst/>
          </a:prstGeom>
          <a:noFill/>
          <a:ln w="12700">
            <a:solidFill>
              <a:srgbClr val="233B5A"/>
            </a:solidFill>
            <a:prstDash val="solid"/>
          </a:ln>
        </p:spPr>
        <p:txBody>
          <a:bodyPr/>
          <a:lstStyle/>
          <a:p>
            <a:endParaRPr lang="en-US"/>
          </a:p>
        </p:txBody>
      </p:sp>
      <p:sp>
        <p:nvSpPr>
          <p:cNvPr id="5" name="Shape 3"/>
          <p:cNvSpPr/>
          <p:nvPr/>
        </p:nvSpPr>
        <p:spPr>
          <a:xfrm>
            <a:off x="822960" y="1325879"/>
            <a:ext cx="10561320" cy="1468593"/>
          </a:xfrm>
          <a:prstGeom prst="roundRect">
            <a:avLst>
              <a:gd name="adj" fmla="val 6957"/>
            </a:avLst>
          </a:prstGeom>
          <a:solidFill>
            <a:srgbClr val="132238"/>
          </a:solidFill>
          <a:ln w="12700">
            <a:solidFill>
              <a:srgbClr val="233B5A"/>
            </a:solidFill>
            <a:prstDash val="solid"/>
          </a:ln>
        </p:spPr>
        <p:txBody>
          <a:bodyPr/>
          <a:lstStyle/>
          <a:p>
            <a:pPr marL="285750" indent="-285750">
              <a:buFontTx/>
              <a:buChar char="-"/>
            </a:pPr>
            <a:r>
              <a:rPr lang="sl-SI" dirty="0">
                <a:solidFill>
                  <a:schemeClr val="bg1"/>
                </a:solidFill>
              </a:rPr>
              <a:t>Implementacija</a:t>
            </a:r>
          </a:p>
          <a:p>
            <a:pPr marL="285750" indent="-285750">
              <a:buFontTx/>
              <a:buChar char="-"/>
            </a:pPr>
            <a:r>
              <a:rPr lang="sl-SI" dirty="0">
                <a:solidFill>
                  <a:schemeClr val="bg1"/>
                </a:solidFill>
              </a:rPr>
              <a:t>Delovanje</a:t>
            </a:r>
          </a:p>
          <a:p>
            <a:pPr marL="285750" indent="-285750">
              <a:buFontTx/>
              <a:buChar char="-"/>
            </a:pPr>
            <a:r>
              <a:rPr lang="sl-SI" dirty="0">
                <a:solidFill>
                  <a:schemeClr val="bg1"/>
                </a:solidFill>
              </a:rPr>
              <a:t>Vpliv različnih parametrov</a:t>
            </a:r>
          </a:p>
          <a:p>
            <a:pPr marL="285750" indent="-285750">
              <a:buFontTx/>
              <a:buChar char="-"/>
            </a:pPr>
            <a:r>
              <a:rPr lang="sl-SI" dirty="0">
                <a:solidFill>
                  <a:schemeClr val="bg1"/>
                </a:solidFill>
              </a:rPr>
              <a:t>Izklop regulacije ob dvigu</a:t>
            </a:r>
          </a:p>
          <a:p>
            <a:pPr marL="285750" indent="-285750">
              <a:buFontTx/>
              <a:buChar char="-"/>
            </a:pPr>
            <a:endParaRPr lang="en-US" dirty="0">
              <a:solidFill>
                <a:schemeClr val="bg1"/>
              </a:solidFill>
            </a:endParaRPr>
          </a:p>
        </p:txBody>
      </p:sp>
      <p:sp>
        <p:nvSpPr>
          <p:cNvPr id="8" name="Text 6"/>
          <p:cNvSpPr/>
          <p:nvPr/>
        </p:nvSpPr>
        <p:spPr>
          <a:xfrm>
            <a:off x="1097280" y="3081528"/>
            <a:ext cx="1828800" cy="228600"/>
          </a:xfrm>
          <a:prstGeom prst="rect">
            <a:avLst/>
          </a:prstGeom>
          <a:noFill/>
          <a:ln/>
        </p:spPr>
        <p:txBody>
          <a:bodyPr wrap="square" lIns="0" tIns="0" rIns="0" bIns="0" rtlCol="0" anchor="ctr"/>
          <a:lstStyle/>
          <a:p>
            <a:pPr marL="0" indent="0">
              <a:buNone/>
            </a:pPr>
            <a:endParaRPr lang="en-US" sz="1500" dirty="0"/>
          </a:p>
        </p:txBody>
      </p:sp>
      <p:sp>
        <p:nvSpPr>
          <p:cNvPr id="22" name="Text 20"/>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8</a:t>
            </a:r>
            <a:endParaRPr lang="en-US" sz="800" dirty="0"/>
          </a:p>
        </p:txBody>
      </p:sp>
      <p:sp>
        <p:nvSpPr>
          <p:cNvPr id="23" name="Text 0"/>
          <p:cNvSpPr/>
          <p:nvPr/>
        </p:nvSpPr>
        <p:spPr>
          <a:xfrm>
            <a:off x="487680" y="443784"/>
            <a:ext cx="8046720" cy="411480"/>
          </a:xfrm>
          <a:prstGeom prst="rect">
            <a:avLst/>
          </a:prstGeom>
          <a:noFill/>
          <a:ln/>
        </p:spPr>
        <p:txBody>
          <a:bodyPr wrap="square" lIns="0" tIns="0" rIns="0" bIns="0" rtlCol="0" anchor="ctr"/>
          <a:lstStyle/>
          <a:p>
            <a:r>
              <a:rPr lang="sl-SI" sz="3600" b="1" dirty="0">
                <a:solidFill>
                  <a:srgbClr val="F4F8FF"/>
                </a:solidFill>
                <a:latin typeface="Aptos Display" pitchFamily="34" charset="0"/>
                <a:ea typeface="Aptos Display" pitchFamily="34" charset="-122"/>
                <a:cs typeface="Aptos Display" pitchFamily="34" charset="-120"/>
              </a:rPr>
              <a:t>MIT način</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D502006A-8CAC-7BFA-5FCA-17EF2692D772}"/>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49754E11-AE73-6801-FC68-9EA3CC86D8F4}"/>
              </a:ext>
            </a:extLst>
          </p:cNvPr>
          <p:cNvSpPr/>
          <p:nvPr/>
        </p:nvSpPr>
        <p:spPr>
          <a:xfrm>
            <a:off x="502920" y="1078992"/>
            <a:ext cx="11201400" cy="0"/>
          </a:xfrm>
          <a:prstGeom prst="line">
            <a:avLst/>
          </a:prstGeom>
          <a:noFill/>
          <a:ln w="12700">
            <a:solidFill>
              <a:srgbClr val="233B5A"/>
            </a:solidFill>
            <a:prstDash val="solid"/>
          </a:ln>
        </p:spPr>
        <p:txBody>
          <a:bodyPr/>
          <a:lstStyle/>
          <a:p>
            <a:endParaRPr lang="en-US"/>
          </a:p>
        </p:txBody>
      </p:sp>
      <p:sp>
        <p:nvSpPr>
          <p:cNvPr id="5" name="Shape 3">
            <a:extLst>
              <a:ext uri="{FF2B5EF4-FFF2-40B4-BE49-F238E27FC236}">
                <a16:creationId xmlns:a16="http://schemas.microsoft.com/office/drawing/2014/main" id="{E12703E5-EB59-B830-18B0-E4B6524FEC2C}"/>
              </a:ext>
            </a:extLst>
          </p:cNvPr>
          <p:cNvSpPr/>
          <p:nvPr/>
        </p:nvSpPr>
        <p:spPr>
          <a:xfrm>
            <a:off x="822960" y="1325880"/>
            <a:ext cx="10561320" cy="1051560"/>
          </a:xfrm>
          <a:prstGeom prst="roundRect">
            <a:avLst>
              <a:gd name="adj" fmla="val 6957"/>
            </a:avLst>
          </a:prstGeom>
          <a:solidFill>
            <a:srgbClr val="132238"/>
          </a:solidFill>
          <a:ln w="12700">
            <a:solidFill>
              <a:srgbClr val="233B5A"/>
            </a:solidFill>
            <a:prstDash val="solid"/>
          </a:ln>
        </p:spPr>
        <p:txBody>
          <a:bodyPr/>
          <a:lstStyle/>
          <a:p>
            <a:pPr marL="285750" indent="-285750">
              <a:buFontTx/>
              <a:buChar char="-"/>
            </a:pPr>
            <a:r>
              <a:rPr lang="sl-SI" dirty="0">
                <a:solidFill>
                  <a:schemeClr val="bg1"/>
                </a:solidFill>
              </a:rPr>
              <a:t>Težave pri implementaciji zaradi napetosti</a:t>
            </a:r>
            <a:endParaRPr lang="en-US" dirty="0">
              <a:solidFill>
                <a:schemeClr val="bg1"/>
              </a:solidFill>
            </a:endParaRPr>
          </a:p>
          <a:p>
            <a:endParaRPr lang="en-US" dirty="0">
              <a:solidFill>
                <a:schemeClr val="bg1"/>
              </a:solidFill>
            </a:endParaRPr>
          </a:p>
          <a:p>
            <a:pPr marL="285750" indent="-285750">
              <a:buFontTx/>
              <a:buChar char="-"/>
            </a:pPr>
            <a:r>
              <a:rPr lang="en-US" dirty="0">
                <a:solidFill>
                  <a:schemeClr val="bg1"/>
                </a:solidFill>
              </a:rPr>
              <a:t>Na </a:t>
            </a:r>
            <a:r>
              <a:rPr lang="en-US" dirty="0" err="1">
                <a:solidFill>
                  <a:schemeClr val="bg1"/>
                </a:solidFill>
              </a:rPr>
              <a:t>računalniku</a:t>
            </a:r>
            <a:r>
              <a:rPr lang="en-US" dirty="0">
                <a:solidFill>
                  <a:schemeClr val="bg1"/>
                </a:solidFill>
              </a:rPr>
              <a:t> </a:t>
            </a:r>
            <a:r>
              <a:rPr lang="en-US" dirty="0" err="1">
                <a:solidFill>
                  <a:schemeClr val="bg1"/>
                </a:solidFill>
              </a:rPr>
              <a:t>pošljemo</a:t>
            </a:r>
            <a:r>
              <a:rPr lang="en-US" dirty="0">
                <a:solidFill>
                  <a:schemeClr val="bg1"/>
                </a:solidFill>
              </a:rPr>
              <a:t> </a:t>
            </a:r>
            <a:r>
              <a:rPr lang="en-US" dirty="0" err="1">
                <a:solidFill>
                  <a:schemeClr val="bg1"/>
                </a:solidFill>
              </a:rPr>
              <a:t>ukaz</a:t>
            </a:r>
            <a:r>
              <a:rPr lang="en-US" dirty="0">
                <a:solidFill>
                  <a:schemeClr val="bg1"/>
                </a:solidFill>
              </a:rPr>
              <a:t> v </a:t>
            </a:r>
            <a:r>
              <a:rPr lang="en-US" dirty="0" err="1">
                <a:solidFill>
                  <a:schemeClr val="bg1"/>
                </a:solidFill>
              </a:rPr>
              <a:t>obliki</a:t>
            </a:r>
            <a:r>
              <a:rPr lang="en-US" dirty="0">
                <a:solidFill>
                  <a:schemeClr val="bg1"/>
                </a:solidFill>
              </a:rPr>
              <a:t>:   300mm 1!</a:t>
            </a:r>
          </a:p>
          <a:p>
            <a:endParaRPr lang="en-US" dirty="0">
              <a:solidFill>
                <a:schemeClr val="bg1"/>
              </a:solidFill>
            </a:endParaRPr>
          </a:p>
          <a:p>
            <a:r>
              <a:rPr lang="en-US" dirty="0">
                <a:solidFill>
                  <a:schemeClr val="bg1"/>
                </a:solidFill>
              </a:rPr>
              <a:t>Pomen:</a:t>
            </a:r>
          </a:p>
          <a:p>
            <a:r>
              <a:rPr lang="en-US" dirty="0">
                <a:solidFill>
                  <a:schemeClr val="bg1"/>
                </a:solidFill>
              </a:rPr>
              <a:t>- `300mm` </a:t>
            </a:r>
            <a:r>
              <a:rPr lang="en-US" dirty="0" err="1">
                <a:solidFill>
                  <a:schemeClr val="bg1"/>
                </a:solidFill>
              </a:rPr>
              <a:t>pomeni</a:t>
            </a:r>
            <a:r>
              <a:rPr lang="en-US" dirty="0">
                <a:solidFill>
                  <a:schemeClr val="bg1"/>
                </a:solidFill>
              </a:rPr>
              <a:t> </a:t>
            </a:r>
            <a:r>
              <a:rPr lang="en-US" dirty="0" err="1">
                <a:solidFill>
                  <a:schemeClr val="bg1"/>
                </a:solidFill>
              </a:rPr>
              <a:t>premik</a:t>
            </a:r>
            <a:r>
              <a:rPr lang="en-US" dirty="0">
                <a:solidFill>
                  <a:schemeClr val="bg1"/>
                </a:solidFill>
              </a:rPr>
              <a:t> za 300 mm </a:t>
            </a:r>
            <a:r>
              <a:rPr lang="en-US" dirty="0" err="1">
                <a:solidFill>
                  <a:schemeClr val="bg1"/>
                </a:solidFill>
              </a:rPr>
              <a:t>naprej</a:t>
            </a:r>
            <a:r>
              <a:rPr lang="en-US" dirty="0">
                <a:solidFill>
                  <a:schemeClr val="bg1"/>
                </a:solidFill>
              </a:rPr>
              <a:t>.</a:t>
            </a:r>
          </a:p>
          <a:p>
            <a:r>
              <a:rPr lang="en-US" dirty="0">
                <a:solidFill>
                  <a:schemeClr val="bg1"/>
                </a:solidFill>
              </a:rPr>
              <a:t>- `1` </a:t>
            </a:r>
            <a:r>
              <a:rPr lang="en-US" dirty="0" err="1">
                <a:solidFill>
                  <a:schemeClr val="bg1"/>
                </a:solidFill>
              </a:rPr>
              <a:t>pomeni</a:t>
            </a:r>
            <a:r>
              <a:rPr lang="en-US" dirty="0">
                <a:solidFill>
                  <a:schemeClr val="bg1"/>
                </a:solidFill>
              </a:rPr>
              <a:t> </a:t>
            </a:r>
            <a:r>
              <a:rPr lang="en-US" dirty="0" err="1">
                <a:solidFill>
                  <a:schemeClr val="bg1"/>
                </a:solidFill>
              </a:rPr>
              <a:t>dvig</a:t>
            </a:r>
            <a:r>
              <a:rPr lang="en-US" dirty="0">
                <a:solidFill>
                  <a:schemeClr val="bg1"/>
                </a:solidFill>
              </a:rPr>
              <a:t> </a:t>
            </a:r>
            <a:r>
              <a:rPr lang="en-US" dirty="0" err="1">
                <a:solidFill>
                  <a:schemeClr val="bg1"/>
                </a:solidFill>
              </a:rPr>
              <a:t>robota</a:t>
            </a:r>
            <a:r>
              <a:rPr lang="en-US" dirty="0">
                <a:solidFill>
                  <a:schemeClr val="bg1"/>
                </a:solidFill>
              </a:rPr>
              <a:t>.</a:t>
            </a:r>
          </a:p>
          <a:p>
            <a:r>
              <a:rPr lang="en-US" dirty="0">
                <a:solidFill>
                  <a:schemeClr val="bg1"/>
                </a:solidFill>
              </a:rPr>
              <a:t>- `0` </a:t>
            </a:r>
            <a:r>
              <a:rPr lang="en-US" dirty="0" err="1">
                <a:solidFill>
                  <a:schemeClr val="bg1"/>
                </a:solidFill>
              </a:rPr>
              <a:t>pomeni</a:t>
            </a:r>
            <a:r>
              <a:rPr lang="en-US" dirty="0">
                <a:solidFill>
                  <a:schemeClr val="bg1"/>
                </a:solidFill>
              </a:rPr>
              <a:t> </a:t>
            </a:r>
            <a:r>
              <a:rPr lang="en-US" dirty="0" err="1">
                <a:solidFill>
                  <a:schemeClr val="bg1"/>
                </a:solidFill>
              </a:rPr>
              <a:t>spust</a:t>
            </a:r>
            <a:r>
              <a:rPr lang="en-US" dirty="0">
                <a:solidFill>
                  <a:schemeClr val="bg1"/>
                </a:solidFill>
              </a:rPr>
              <a:t> </a:t>
            </a:r>
            <a:r>
              <a:rPr lang="en-US" dirty="0" err="1">
                <a:solidFill>
                  <a:schemeClr val="bg1"/>
                </a:solidFill>
              </a:rPr>
              <a:t>oziroma</a:t>
            </a:r>
            <a:r>
              <a:rPr lang="en-US" dirty="0">
                <a:solidFill>
                  <a:schemeClr val="bg1"/>
                </a:solidFill>
              </a:rPr>
              <a:t> </a:t>
            </a:r>
            <a:r>
              <a:rPr lang="en-US" dirty="0" err="1">
                <a:solidFill>
                  <a:schemeClr val="bg1"/>
                </a:solidFill>
              </a:rPr>
              <a:t>nevtralni</a:t>
            </a:r>
            <a:r>
              <a:rPr lang="en-US" dirty="0">
                <a:solidFill>
                  <a:schemeClr val="bg1"/>
                </a:solidFill>
              </a:rPr>
              <a:t> </a:t>
            </a:r>
            <a:r>
              <a:rPr lang="en-US" dirty="0" err="1">
                <a:solidFill>
                  <a:schemeClr val="bg1"/>
                </a:solidFill>
              </a:rPr>
              <a:t>položaj</a:t>
            </a:r>
            <a:r>
              <a:rPr lang="en-US" dirty="0">
                <a:solidFill>
                  <a:schemeClr val="bg1"/>
                </a:solidFill>
              </a:rPr>
              <a:t>.</a:t>
            </a:r>
          </a:p>
          <a:p>
            <a:r>
              <a:rPr lang="en-US" dirty="0">
                <a:solidFill>
                  <a:schemeClr val="bg1"/>
                </a:solidFill>
              </a:rPr>
              <a:t>- `!` </a:t>
            </a:r>
            <a:r>
              <a:rPr lang="en-US" dirty="0" err="1">
                <a:solidFill>
                  <a:schemeClr val="bg1"/>
                </a:solidFill>
              </a:rPr>
              <a:t>pomeni</a:t>
            </a:r>
            <a:r>
              <a:rPr lang="en-US" dirty="0">
                <a:solidFill>
                  <a:schemeClr val="bg1"/>
                </a:solidFill>
              </a:rPr>
              <a:t> </a:t>
            </a:r>
            <a:r>
              <a:rPr lang="en-US" dirty="0" err="1">
                <a:solidFill>
                  <a:schemeClr val="bg1"/>
                </a:solidFill>
              </a:rPr>
              <a:t>konec</a:t>
            </a:r>
            <a:r>
              <a:rPr lang="en-US" dirty="0">
                <a:solidFill>
                  <a:schemeClr val="bg1"/>
                </a:solidFill>
              </a:rPr>
              <a:t> </a:t>
            </a:r>
            <a:r>
              <a:rPr lang="en-US" dirty="0" err="1">
                <a:solidFill>
                  <a:schemeClr val="bg1"/>
                </a:solidFill>
              </a:rPr>
              <a:t>ukaza</a:t>
            </a:r>
            <a:r>
              <a:rPr lang="en-US" dirty="0">
                <a:solidFill>
                  <a:schemeClr val="bg1"/>
                </a:solidFill>
              </a:rPr>
              <a:t>.</a:t>
            </a:r>
          </a:p>
          <a:p>
            <a:pPr marL="285750" indent="-285750">
              <a:buFontTx/>
              <a:buChar char="-"/>
            </a:pPr>
            <a:endParaRPr lang="en-US" dirty="0">
              <a:solidFill>
                <a:schemeClr val="bg1"/>
              </a:solidFill>
            </a:endParaRPr>
          </a:p>
          <a:p>
            <a:pPr marL="285750" indent="-285750">
              <a:buFontTx/>
              <a:buChar char="-"/>
            </a:pPr>
            <a:endParaRPr lang="sl-SI" dirty="0">
              <a:solidFill>
                <a:schemeClr val="bg1"/>
              </a:solidFill>
            </a:endParaRPr>
          </a:p>
        </p:txBody>
      </p:sp>
      <p:sp>
        <p:nvSpPr>
          <p:cNvPr id="8" name="Text 6">
            <a:extLst>
              <a:ext uri="{FF2B5EF4-FFF2-40B4-BE49-F238E27FC236}">
                <a16:creationId xmlns:a16="http://schemas.microsoft.com/office/drawing/2014/main" id="{A3F06C24-B8BF-7D65-1E9D-E7BA3355E843}"/>
              </a:ext>
            </a:extLst>
          </p:cNvPr>
          <p:cNvSpPr/>
          <p:nvPr/>
        </p:nvSpPr>
        <p:spPr>
          <a:xfrm>
            <a:off x="1097280" y="3081528"/>
            <a:ext cx="1828800" cy="228600"/>
          </a:xfrm>
          <a:prstGeom prst="rect">
            <a:avLst/>
          </a:prstGeom>
          <a:noFill/>
          <a:ln/>
        </p:spPr>
        <p:txBody>
          <a:bodyPr wrap="square" lIns="0" tIns="0" rIns="0" bIns="0" rtlCol="0" anchor="ctr"/>
          <a:lstStyle/>
          <a:p>
            <a:pPr marL="0" indent="0">
              <a:buNone/>
            </a:pPr>
            <a:endParaRPr lang="en-US" sz="1500" dirty="0"/>
          </a:p>
        </p:txBody>
      </p:sp>
      <p:sp>
        <p:nvSpPr>
          <p:cNvPr id="22" name="Text 20">
            <a:extLst>
              <a:ext uri="{FF2B5EF4-FFF2-40B4-BE49-F238E27FC236}">
                <a16:creationId xmlns:a16="http://schemas.microsoft.com/office/drawing/2014/main" id="{3922DB57-C7BD-D24B-AB68-BD659B6E1D21}"/>
              </a:ext>
            </a:extLst>
          </p:cNvPr>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8</a:t>
            </a:r>
            <a:endParaRPr lang="en-US" sz="800" dirty="0"/>
          </a:p>
        </p:txBody>
      </p:sp>
      <p:sp>
        <p:nvSpPr>
          <p:cNvPr id="23" name="Text 0">
            <a:extLst>
              <a:ext uri="{FF2B5EF4-FFF2-40B4-BE49-F238E27FC236}">
                <a16:creationId xmlns:a16="http://schemas.microsoft.com/office/drawing/2014/main" id="{DF3F0AEA-200A-B6C3-4C87-10F489C51CA3}"/>
              </a:ext>
            </a:extLst>
          </p:cNvPr>
          <p:cNvSpPr/>
          <p:nvPr/>
        </p:nvSpPr>
        <p:spPr>
          <a:xfrm>
            <a:off x="487680" y="443784"/>
            <a:ext cx="8046720" cy="411480"/>
          </a:xfrm>
          <a:prstGeom prst="rect">
            <a:avLst/>
          </a:prstGeom>
          <a:noFill/>
          <a:ln/>
        </p:spPr>
        <p:txBody>
          <a:bodyPr wrap="square" lIns="0" tIns="0" rIns="0" bIns="0" rtlCol="0" anchor="ctr"/>
          <a:lstStyle/>
          <a:p>
            <a:r>
              <a:rPr lang="sl-SI" sz="3600" b="1" dirty="0">
                <a:solidFill>
                  <a:srgbClr val="F4F8FF"/>
                </a:solidFill>
                <a:latin typeface="Aptos Display" pitchFamily="34" charset="0"/>
                <a:ea typeface="Aptos Display" pitchFamily="34" charset="-122"/>
                <a:cs typeface="Aptos Display" pitchFamily="34" charset="-120"/>
              </a:rPr>
              <a:t>MRF komunikacija</a:t>
            </a:r>
            <a:endParaRPr lang="en-US" sz="3600" dirty="0"/>
          </a:p>
        </p:txBody>
      </p:sp>
    </p:spTree>
    <p:extLst>
      <p:ext uri="{BB962C8B-B14F-4D97-AF65-F5344CB8AC3E}">
        <p14:creationId xmlns:p14="http://schemas.microsoft.com/office/powerpoint/2010/main" val="275482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a:extLst>
            <a:ext uri="{FF2B5EF4-FFF2-40B4-BE49-F238E27FC236}">
              <a16:creationId xmlns:a16="http://schemas.microsoft.com/office/drawing/2014/main" id="{242A676B-4EE8-9F1A-6D92-DBF44640E478}"/>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62D1E07C-C749-CF08-DDE0-77998B92468B}"/>
              </a:ext>
            </a:extLst>
          </p:cNvPr>
          <p:cNvSpPr/>
          <p:nvPr/>
        </p:nvSpPr>
        <p:spPr>
          <a:xfrm>
            <a:off x="502920" y="1078992"/>
            <a:ext cx="11201400" cy="0"/>
          </a:xfrm>
          <a:prstGeom prst="line">
            <a:avLst/>
          </a:prstGeom>
          <a:noFill/>
          <a:ln w="12700">
            <a:solidFill>
              <a:srgbClr val="233B5A"/>
            </a:solidFill>
            <a:prstDash val="solid"/>
          </a:ln>
        </p:spPr>
        <p:txBody>
          <a:bodyPr/>
          <a:lstStyle/>
          <a:p>
            <a:endParaRPr lang="en-US"/>
          </a:p>
        </p:txBody>
      </p:sp>
      <p:sp>
        <p:nvSpPr>
          <p:cNvPr id="5" name="Shape 3">
            <a:extLst>
              <a:ext uri="{FF2B5EF4-FFF2-40B4-BE49-F238E27FC236}">
                <a16:creationId xmlns:a16="http://schemas.microsoft.com/office/drawing/2014/main" id="{58DEC270-1625-BD2F-40C5-6991C593EDA7}"/>
              </a:ext>
            </a:extLst>
          </p:cNvPr>
          <p:cNvSpPr/>
          <p:nvPr/>
        </p:nvSpPr>
        <p:spPr>
          <a:xfrm>
            <a:off x="822960" y="1325880"/>
            <a:ext cx="10561320" cy="1921522"/>
          </a:xfrm>
          <a:prstGeom prst="roundRect">
            <a:avLst>
              <a:gd name="adj" fmla="val 6957"/>
            </a:avLst>
          </a:prstGeom>
          <a:solidFill>
            <a:srgbClr val="132238"/>
          </a:solidFill>
          <a:ln w="12700">
            <a:solidFill>
              <a:srgbClr val="233B5A"/>
            </a:solidFill>
            <a:prstDash val="solid"/>
          </a:ln>
        </p:spPr>
        <p:txBody>
          <a:bodyPr/>
          <a:lstStyle/>
          <a:p>
            <a:pPr marL="285750" indent="-285750">
              <a:buFontTx/>
              <a:buChar char="-"/>
            </a:pPr>
            <a:r>
              <a:rPr lang="sl-SI" dirty="0">
                <a:solidFill>
                  <a:schemeClr val="bg1"/>
                </a:solidFill>
              </a:rPr>
              <a:t>Upravljanje s tipkami na tipkovnici</a:t>
            </a:r>
          </a:p>
          <a:p>
            <a:pPr marL="285750" indent="-285750">
              <a:buFontTx/>
              <a:buChar char="-"/>
            </a:pPr>
            <a:r>
              <a:rPr lang="sl-SI" dirty="0">
                <a:solidFill>
                  <a:schemeClr val="bg1"/>
                </a:solidFill>
              </a:rPr>
              <a:t>Adaptivni parametri MIT načina</a:t>
            </a:r>
          </a:p>
          <a:p>
            <a:pPr marL="285750" indent="-285750">
              <a:buFontTx/>
              <a:buChar char="-"/>
            </a:pPr>
            <a:endParaRPr lang="en-US" dirty="0">
              <a:solidFill>
                <a:schemeClr val="bg1"/>
              </a:solidFill>
            </a:endParaRPr>
          </a:p>
        </p:txBody>
      </p:sp>
      <p:sp>
        <p:nvSpPr>
          <p:cNvPr id="8" name="Text 6">
            <a:extLst>
              <a:ext uri="{FF2B5EF4-FFF2-40B4-BE49-F238E27FC236}">
                <a16:creationId xmlns:a16="http://schemas.microsoft.com/office/drawing/2014/main" id="{55EAFFF5-F65F-EA85-186E-EF548F34CD27}"/>
              </a:ext>
            </a:extLst>
          </p:cNvPr>
          <p:cNvSpPr/>
          <p:nvPr/>
        </p:nvSpPr>
        <p:spPr>
          <a:xfrm>
            <a:off x="1097280" y="3081528"/>
            <a:ext cx="1828800" cy="228600"/>
          </a:xfrm>
          <a:prstGeom prst="rect">
            <a:avLst/>
          </a:prstGeom>
          <a:noFill/>
          <a:ln/>
        </p:spPr>
        <p:txBody>
          <a:bodyPr wrap="square" lIns="0" tIns="0" rIns="0" bIns="0" rtlCol="0" anchor="ctr"/>
          <a:lstStyle/>
          <a:p>
            <a:pPr marL="0" indent="0">
              <a:buNone/>
            </a:pPr>
            <a:endParaRPr lang="en-US" sz="1500" dirty="0"/>
          </a:p>
        </p:txBody>
      </p:sp>
      <p:sp>
        <p:nvSpPr>
          <p:cNvPr id="22" name="Text 20">
            <a:extLst>
              <a:ext uri="{FF2B5EF4-FFF2-40B4-BE49-F238E27FC236}">
                <a16:creationId xmlns:a16="http://schemas.microsoft.com/office/drawing/2014/main" id="{1988312B-4C4F-C97F-F687-2F8147C667A7}"/>
              </a:ext>
            </a:extLst>
          </p:cNvPr>
          <p:cNvSpPr/>
          <p:nvPr/>
        </p:nvSpPr>
        <p:spPr>
          <a:xfrm>
            <a:off x="11475720" y="6446520"/>
            <a:ext cx="228600" cy="182880"/>
          </a:xfrm>
          <a:prstGeom prst="rect">
            <a:avLst/>
          </a:prstGeom>
          <a:noFill/>
          <a:ln/>
        </p:spPr>
        <p:txBody>
          <a:bodyPr wrap="square" lIns="0" tIns="0" rIns="0" bIns="0" rtlCol="0" anchor="ctr"/>
          <a:lstStyle/>
          <a:p>
            <a:pPr marL="0" indent="0" algn="r">
              <a:buNone/>
            </a:pPr>
            <a:r>
              <a:rPr lang="en-US" sz="800" dirty="0">
                <a:solidFill>
                  <a:srgbClr val="A9B8CC"/>
                </a:solidFill>
              </a:rPr>
              <a:t>8</a:t>
            </a:r>
            <a:endParaRPr lang="en-US" sz="800" dirty="0"/>
          </a:p>
        </p:txBody>
      </p:sp>
      <p:sp>
        <p:nvSpPr>
          <p:cNvPr id="23" name="Text 0">
            <a:extLst>
              <a:ext uri="{FF2B5EF4-FFF2-40B4-BE49-F238E27FC236}">
                <a16:creationId xmlns:a16="http://schemas.microsoft.com/office/drawing/2014/main" id="{B674E58B-9365-5A39-4842-6ED1B9C39699}"/>
              </a:ext>
            </a:extLst>
          </p:cNvPr>
          <p:cNvSpPr/>
          <p:nvPr/>
        </p:nvSpPr>
        <p:spPr>
          <a:xfrm>
            <a:off x="487680" y="443784"/>
            <a:ext cx="8046720" cy="411480"/>
          </a:xfrm>
          <a:prstGeom prst="rect">
            <a:avLst/>
          </a:prstGeom>
          <a:noFill/>
          <a:ln/>
        </p:spPr>
        <p:txBody>
          <a:bodyPr wrap="square" lIns="0" tIns="0" rIns="0" bIns="0" rtlCol="0" anchor="ctr"/>
          <a:lstStyle/>
          <a:p>
            <a:r>
              <a:rPr lang="sl-SI" sz="3600" b="1" dirty="0">
                <a:solidFill>
                  <a:srgbClr val="F4F8FF"/>
                </a:solidFill>
                <a:latin typeface="Aptos Display" pitchFamily="34" charset="0"/>
                <a:ea typeface="Aptos Display" pitchFamily="34" charset="-122"/>
                <a:cs typeface="Aptos Display" pitchFamily="34" charset="-120"/>
              </a:rPr>
              <a:t>Možne nadgradnje</a:t>
            </a:r>
            <a:endParaRPr lang="en-US" sz="3600" dirty="0"/>
          </a:p>
        </p:txBody>
      </p:sp>
    </p:spTree>
    <p:extLst>
      <p:ext uri="{BB962C8B-B14F-4D97-AF65-F5344CB8AC3E}">
        <p14:creationId xmlns:p14="http://schemas.microsoft.com/office/powerpoint/2010/main" val="941679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805</Words>
  <Application>Microsoft Office PowerPoint</Application>
  <PresentationFormat>Widescreen</PresentationFormat>
  <Paragraphs>80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FERI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Vodenje motorjev mobilnega robota</dc:title>
  <dc:subject>Predstavitev projekta robot</dc:subject>
  <dc:creator>Hristina Nikolovska</dc:creator>
  <cp:lastModifiedBy>Hristina Nikolovska</cp:lastModifiedBy>
  <cp:revision>15</cp:revision>
  <dcterms:created xsi:type="dcterms:W3CDTF">2026-05-26T18:04:52Z</dcterms:created>
  <dcterms:modified xsi:type="dcterms:W3CDTF">2026-06-10T08:23:34Z</dcterms:modified>
</cp:coreProperties>
</file>